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29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7: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ddb92a214_0_0:notes"/>
          <p:cNvSpPr/>
          <p:nvPr>
            <p:ph idx="2" type="sldImg"/>
          </p:nvPr>
        </p:nvSpPr>
        <p:spPr>
          <a:xfrm>
            <a:off x="2857500" y="514350"/>
            <a:ext cx="3429000" cy="25719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ddb92a214_0_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g3eddb92a214_0_0:notes"/>
          <p:cNvSpPr txBox="1"/>
          <p:nvPr>
            <p:ph idx="12" type="sldNum"/>
          </p:nvPr>
        </p:nvSpPr>
        <p:spPr>
          <a:xfrm>
            <a:off x="5180013" y="6513513"/>
            <a:ext cx="3962400" cy="3429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8: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9: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9: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0: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1: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1: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2:notes"/>
          <p:cNvSpPr txBox="1"/>
          <p:nvPr>
            <p:ph idx="1" type="body"/>
          </p:nvPr>
        </p:nvSpPr>
        <p:spPr>
          <a:xfrm>
            <a:off x="914400" y="3257550"/>
            <a:ext cx="7315200" cy="308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2:notes"/>
          <p:cNvSpPr/>
          <p:nvPr>
            <p:ph idx="2" type="sldImg"/>
          </p:nvPr>
        </p:nvSpPr>
        <p:spPr>
          <a:xfrm>
            <a:off x="2857500" y="514350"/>
            <a:ext cx="34290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685800" y="2130426"/>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457200" y="1600201"/>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722313" y="2906714"/>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457200" y="1600201"/>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4648200" y="1600201"/>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457201"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457201"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1"/>
            <a:ext cx="5111751"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1" y="1435101"/>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1"/>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9"/>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2"/>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1"/>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1"/>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1"/>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1"/>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klh.edu.in/" TargetMode="Externa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685800" y="0"/>
            <a:ext cx="7772400" cy="1201361"/>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imes New Roman"/>
              <a:buNone/>
            </a:pPr>
            <a:br>
              <a:rPr b="0" lang="en-IN" sz="1800">
                <a:solidFill>
                  <a:schemeClr val="dk1"/>
                </a:solidFill>
                <a:latin typeface="Times New Roman"/>
                <a:ea typeface="Times New Roman"/>
                <a:cs typeface="Times New Roman"/>
                <a:sym typeface="Times New Roman"/>
              </a:rPr>
            </a:br>
            <a:r>
              <a:rPr b="0" lang="en-IN" sz="2200">
                <a:solidFill>
                  <a:schemeClr val="dk1"/>
                </a:solidFill>
                <a:latin typeface="Times New Roman"/>
                <a:ea typeface="Times New Roman"/>
                <a:cs typeface="Times New Roman"/>
                <a:sym typeface="Times New Roman"/>
              </a:rPr>
              <a:t>A</a:t>
            </a:r>
            <a:br>
              <a:rPr b="0" lang="en-IN" sz="1800">
                <a:solidFill>
                  <a:schemeClr val="dk1"/>
                </a:solidFill>
                <a:latin typeface="Times New Roman"/>
                <a:ea typeface="Times New Roman"/>
                <a:cs typeface="Times New Roman"/>
                <a:sym typeface="Times New Roman"/>
              </a:rPr>
            </a:br>
            <a:r>
              <a:rPr b="1" lang="en-IN" sz="3600">
                <a:solidFill>
                  <a:srgbClr val="FF0000"/>
                </a:solidFill>
                <a:latin typeface="Times New Roman"/>
                <a:ea typeface="Times New Roman"/>
                <a:cs typeface="Times New Roman"/>
                <a:sym typeface="Times New Roman"/>
              </a:rPr>
              <a:t>Project Review Meeting  </a:t>
            </a:r>
            <a:br>
              <a:rPr lang="en-IN" sz="2200">
                <a:latin typeface="Times New Roman"/>
                <a:ea typeface="Times New Roman"/>
                <a:cs typeface="Times New Roman"/>
                <a:sym typeface="Times New Roman"/>
              </a:rPr>
            </a:br>
            <a:r>
              <a:rPr b="0" lang="en-IN" sz="2200">
                <a:solidFill>
                  <a:schemeClr val="dk1"/>
                </a:solidFill>
                <a:latin typeface="Times New Roman"/>
                <a:ea typeface="Times New Roman"/>
                <a:cs typeface="Times New Roman"/>
                <a:sym typeface="Times New Roman"/>
              </a:rPr>
              <a:t> on</a:t>
            </a:r>
            <a:br>
              <a:rPr lang="en-IN" sz="2200">
                <a:latin typeface="Times New Roman"/>
                <a:ea typeface="Times New Roman"/>
                <a:cs typeface="Times New Roman"/>
                <a:sym typeface="Times New Roman"/>
              </a:rPr>
            </a:br>
            <a:r>
              <a:rPr b="1" lang="en-IN" sz="3200"/>
              <a:t>Doctor Appointment Booking System</a:t>
            </a:r>
            <a:endParaRPr b="1" sz="4000">
              <a:latin typeface="Times New Roman"/>
              <a:ea typeface="Times New Roman"/>
              <a:cs typeface="Times New Roman"/>
              <a:sym typeface="Times New Roman"/>
            </a:endParaRPr>
          </a:p>
        </p:txBody>
      </p:sp>
      <p:sp>
        <p:nvSpPr>
          <p:cNvPr id="89" name="Google Shape;89;p13"/>
          <p:cNvSpPr txBox="1"/>
          <p:nvPr>
            <p:ph idx="1" type="subTitle"/>
          </p:nvPr>
        </p:nvSpPr>
        <p:spPr>
          <a:xfrm>
            <a:off x="381000" y="1366277"/>
            <a:ext cx="8458200" cy="2895600"/>
          </a:xfrm>
          <a:prstGeom prst="rect">
            <a:avLst/>
          </a:prstGeom>
          <a:noFill/>
          <a:ln>
            <a:noFill/>
          </a:ln>
        </p:spPr>
        <p:txBody>
          <a:bodyPr anchorCtr="0" anchor="t" bIns="45700" lIns="91425" spcFirstLastPara="1" rIns="91425" wrap="square" tIns="45700">
            <a:normAutofit fontScale="47500" lnSpcReduction="20000"/>
          </a:bodyPr>
          <a:lstStyle/>
          <a:p>
            <a:pPr indent="0" lvl="0" marL="0" marR="0" rtl="0" algn="ctr">
              <a:lnSpc>
                <a:spcPct val="80000"/>
              </a:lnSpc>
              <a:spcBef>
                <a:spcPts val="0"/>
              </a:spcBef>
              <a:spcAft>
                <a:spcPts val="0"/>
              </a:spcAft>
              <a:buClr>
                <a:srgbClr val="888888"/>
              </a:buClr>
              <a:buSzPct val="100000"/>
              <a:buNone/>
            </a:pPr>
            <a:r>
              <a:t/>
            </a:r>
            <a:endParaRPr sz="2000">
              <a:solidFill>
                <a:srgbClr val="0D0D0D"/>
              </a:solidFill>
              <a:latin typeface="Times New Roman"/>
              <a:ea typeface="Times New Roman"/>
              <a:cs typeface="Times New Roman"/>
              <a:sym typeface="Times New Roman"/>
            </a:endParaRPr>
          </a:p>
          <a:p>
            <a:pPr indent="0" lvl="0" marL="0" marR="0" rtl="0" algn="ctr">
              <a:lnSpc>
                <a:spcPct val="80000"/>
              </a:lnSpc>
              <a:spcBef>
                <a:spcPts val="247"/>
              </a:spcBef>
              <a:spcAft>
                <a:spcPts val="0"/>
              </a:spcAft>
              <a:buClr>
                <a:srgbClr val="888888"/>
              </a:buClr>
              <a:buSzPct val="100000"/>
              <a:buNone/>
            </a:pPr>
            <a:r>
              <a:t/>
            </a:r>
            <a:endParaRPr b="1" sz="2600">
              <a:solidFill>
                <a:srgbClr val="00B0F0"/>
              </a:solidFill>
              <a:latin typeface="Times New Roman"/>
              <a:ea typeface="Times New Roman"/>
              <a:cs typeface="Times New Roman"/>
              <a:sym typeface="Times New Roman"/>
            </a:endParaRPr>
          </a:p>
          <a:p>
            <a:pPr indent="0" lvl="0" marL="0" marR="0" rtl="0" algn="ctr">
              <a:lnSpc>
                <a:spcPct val="80000"/>
              </a:lnSpc>
              <a:spcBef>
                <a:spcPts val="247"/>
              </a:spcBef>
              <a:spcAft>
                <a:spcPts val="0"/>
              </a:spcAft>
              <a:buClr>
                <a:srgbClr val="00B0F0"/>
              </a:buClr>
              <a:buSzPct val="100000"/>
              <a:buNone/>
            </a:pPr>
            <a:r>
              <a:rPr b="1" lang="en-IN" sz="2600">
                <a:solidFill>
                  <a:srgbClr val="00B0F0"/>
                </a:solidFill>
                <a:latin typeface="Times New Roman"/>
                <a:ea typeface="Times New Roman"/>
                <a:cs typeface="Times New Roman"/>
                <a:sym typeface="Times New Roman"/>
              </a:rPr>
              <a:t>By</a:t>
            </a:r>
            <a:endParaRPr/>
          </a:p>
          <a:p>
            <a:pPr indent="0" lvl="0" marL="0" marR="0" rtl="0" algn="ctr">
              <a:lnSpc>
                <a:spcPct val="80000"/>
              </a:lnSpc>
              <a:spcBef>
                <a:spcPts val="247"/>
              </a:spcBef>
              <a:spcAft>
                <a:spcPts val="0"/>
              </a:spcAft>
              <a:buClr>
                <a:srgbClr val="888888"/>
              </a:buClr>
              <a:buSzPct val="100000"/>
              <a:buNone/>
            </a:pPr>
            <a:r>
              <a:t/>
            </a:r>
            <a:endParaRPr b="1" sz="2600">
              <a:solidFill>
                <a:srgbClr val="00B0F0"/>
              </a:solidFill>
              <a:latin typeface="Times New Roman"/>
              <a:ea typeface="Times New Roman"/>
              <a:cs typeface="Times New Roman"/>
              <a:sym typeface="Times New Roman"/>
            </a:endParaRPr>
          </a:p>
          <a:p>
            <a:pPr indent="0" lvl="1" marL="457200" rtl="0" algn="ctr">
              <a:lnSpc>
                <a:spcPct val="80000"/>
              </a:lnSpc>
              <a:spcBef>
                <a:spcPts val="275"/>
              </a:spcBef>
              <a:spcAft>
                <a:spcPts val="0"/>
              </a:spcAft>
              <a:buClr>
                <a:srgbClr val="0D0D0D"/>
              </a:buClr>
              <a:buSzPct val="100000"/>
              <a:buNone/>
            </a:pPr>
            <a:r>
              <a:rPr lang="en-IN" sz="2900">
                <a:solidFill>
                  <a:srgbClr val="0D0D0D"/>
                </a:solidFill>
                <a:latin typeface="Times New Roman"/>
                <a:ea typeface="Times New Roman"/>
                <a:cs typeface="Times New Roman"/>
                <a:sym typeface="Times New Roman"/>
              </a:rPr>
              <a:t>ABHIDEV - 2520030325</a:t>
            </a:r>
            <a:endParaRPr/>
          </a:p>
          <a:p>
            <a:pPr indent="0" lvl="1" marL="457200" rtl="0" algn="ctr">
              <a:lnSpc>
                <a:spcPct val="80000"/>
              </a:lnSpc>
              <a:spcBef>
                <a:spcPts val="275"/>
              </a:spcBef>
              <a:spcAft>
                <a:spcPts val="0"/>
              </a:spcAft>
              <a:buClr>
                <a:srgbClr val="0D0D0D"/>
              </a:buClr>
              <a:buSzPct val="100000"/>
              <a:buNone/>
            </a:pPr>
            <a:r>
              <a:rPr lang="en-IN" sz="2900">
                <a:solidFill>
                  <a:srgbClr val="0D0D0D"/>
                </a:solidFill>
                <a:latin typeface="Times New Roman"/>
                <a:ea typeface="Times New Roman"/>
                <a:cs typeface="Times New Roman"/>
                <a:sym typeface="Times New Roman"/>
              </a:rPr>
              <a:t>DHARANI DHAR  - 2520030163</a:t>
            </a:r>
            <a:endParaRPr/>
          </a:p>
          <a:p>
            <a:pPr indent="0" lvl="1" marL="457200" rtl="0" algn="ctr">
              <a:lnSpc>
                <a:spcPct val="80000"/>
              </a:lnSpc>
              <a:spcBef>
                <a:spcPts val="266"/>
              </a:spcBef>
              <a:spcAft>
                <a:spcPts val="0"/>
              </a:spcAft>
              <a:buClr>
                <a:srgbClr val="888888"/>
              </a:buClr>
              <a:buSzPct val="100000"/>
              <a:buNone/>
            </a:pPr>
            <a:r>
              <a:t/>
            </a:r>
            <a:endParaRPr b="1">
              <a:solidFill>
                <a:srgbClr val="00B0F0"/>
              </a:solidFill>
              <a:latin typeface="Times New Roman"/>
              <a:ea typeface="Times New Roman"/>
              <a:cs typeface="Times New Roman"/>
              <a:sym typeface="Times New Roman"/>
            </a:endParaRPr>
          </a:p>
          <a:p>
            <a:pPr indent="0" lvl="0" marL="0" rtl="0" algn="ctr">
              <a:lnSpc>
                <a:spcPct val="80000"/>
              </a:lnSpc>
              <a:spcBef>
                <a:spcPts val="342"/>
              </a:spcBef>
              <a:spcAft>
                <a:spcPts val="0"/>
              </a:spcAft>
              <a:buClr>
                <a:srgbClr val="00B0F0"/>
              </a:buClr>
              <a:buSzPct val="100000"/>
              <a:buNone/>
            </a:pPr>
            <a:r>
              <a:rPr b="1" lang="en-IN" sz="3600">
                <a:solidFill>
                  <a:srgbClr val="00B0F0"/>
                </a:solidFill>
                <a:latin typeface="Times New Roman"/>
                <a:ea typeface="Times New Roman"/>
                <a:cs typeface="Times New Roman"/>
                <a:sym typeface="Times New Roman"/>
              </a:rPr>
              <a:t>Team Number: 21</a:t>
            </a:r>
            <a:endParaRPr/>
          </a:p>
          <a:p>
            <a:pPr indent="0" lvl="0" marL="0" marR="0" rtl="0" algn="ctr">
              <a:lnSpc>
                <a:spcPct val="80000"/>
              </a:lnSpc>
              <a:spcBef>
                <a:spcPts val="313"/>
              </a:spcBef>
              <a:spcAft>
                <a:spcPts val="0"/>
              </a:spcAft>
              <a:buClr>
                <a:srgbClr val="888888"/>
              </a:buClr>
              <a:buSzPct val="100000"/>
              <a:buNone/>
            </a:pPr>
            <a:r>
              <a:t/>
            </a:r>
            <a:endParaRPr sz="3300">
              <a:solidFill>
                <a:srgbClr val="0D0D0D"/>
              </a:solidFill>
              <a:latin typeface="Times New Roman"/>
              <a:ea typeface="Times New Roman"/>
              <a:cs typeface="Times New Roman"/>
              <a:sym typeface="Times New Roman"/>
            </a:endParaRPr>
          </a:p>
          <a:p>
            <a:pPr indent="0" lvl="0" marL="0" marR="0" rtl="0" algn="ctr">
              <a:lnSpc>
                <a:spcPct val="80000"/>
              </a:lnSpc>
              <a:spcBef>
                <a:spcPts val="123"/>
              </a:spcBef>
              <a:spcAft>
                <a:spcPts val="0"/>
              </a:spcAft>
              <a:buClr>
                <a:srgbClr val="888888"/>
              </a:buClr>
              <a:buSzPct val="100000"/>
              <a:buNone/>
            </a:pPr>
            <a:r>
              <a:t/>
            </a:r>
            <a:endParaRPr b="1" sz="1300">
              <a:solidFill>
                <a:srgbClr val="FF0000"/>
              </a:solidFill>
              <a:latin typeface="Times New Roman"/>
              <a:ea typeface="Times New Roman"/>
              <a:cs typeface="Times New Roman"/>
              <a:sym typeface="Times New Roman"/>
            </a:endParaRPr>
          </a:p>
          <a:p>
            <a:pPr indent="0" lvl="0" marL="0" marR="0" rtl="0" algn="ctr">
              <a:lnSpc>
                <a:spcPct val="80000"/>
              </a:lnSpc>
              <a:spcBef>
                <a:spcPts val="313"/>
              </a:spcBef>
              <a:spcAft>
                <a:spcPts val="0"/>
              </a:spcAft>
              <a:buClr>
                <a:srgbClr val="FF0000"/>
              </a:buClr>
              <a:buSzPct val="100000"/>
              <a:buNone/>
            </a:pPr>
            <a:r>
              <a:rPr b="1" i="1" lang="en-IN" sz="3300">
                <a:solidFill>
                  <a:srgbClr val="FF0000"/>
                </a:solidFill>
                <a:latin typeface="Times New Roman"/>
                <a:ea typeface="Times New Roman"/>
                <a:cs typeface="Times New Roman"/>
                <a:sym typeface="Times New Roman"/>
              </a:rPr>
              <a:t>Under the guidance of </a:t>
            </a:r>
            <a:endParaRPr/>
          </a:p>
          <a:p>
            <a:pPr indent="0" lvl="0" marL="0" marR="0" rtl="0" algn="ctr">
              <a:lnSpc>
                <a:spcPct val="80000"/>
              </a:lnSpc>
              <a:spcBef>
                <a:spcPts val="228"/>
              </a:spcBef>
              <a:spcAft>
                <a:spcPts val="0"/>
              </a:spcAft>
              <a:buClr>
                <a:srgbClr val="888888"/>
              </a:buClr>
              <a:buSzPct val="100000"/>
              <a:buNone/>
            </a:pPr>
            <a:r>
              <a:t/>
            </a:r>
            <a:endParaRPr sz="2400">
              <a:solidFill>
                <a:srgbClr val="0D0D0D"/>
              </a:solidFill>
              <a:latin typeface="Times New Roman"/>
              <a:ea typeface="Times New Roman"/>
              <a:cs typeface="Times New Roman"/>
              <a:sym typeface="Times New Roman"/>
            </a:endParaRPr>
          </a:p>
          <a:p>
            <a:pPr indent="0" lvl="0" marL="0" marR="0" rtl="0" algn="ctr">
              <a:lnSpc>
                <a:spcPct val="80000"/>
              </a:lnSpc>
              <a:spcBef>
                <a:spcPts val="323"/>
              </a:spcBef>
              <a:spcAft>
                <a:spcPts val="0"/>
              </a:spcAft>
              <a:buClr>
                <a:srgbClr val="00B0F0"/>
              </a:buClr>
              <a:buSzPct val="100000"/>
              <a:buNone/>
            </a:pPr>
            <a:r>
              <a:rPr b="1" lang="en-IN" sz="3400">
                <a:solidFill>
                  <a:srgbClr val="00B0F0"/>
                </a:solidFill>
                <a:latin typeface="Times New Roman"/>
                <a:ea typeface="Times New Roman"/>
                <a:cs typeface="Times New Roman"/>
                <a:sym typeface="Times New Roman"/>
              </a:rPr>
              <a:t>Dr. NIRMALA JYOTHI</a:t>
            </a:r>
            <a:endParaRPr/>
          </a:p>
          <a:p>
            <a:pPr indent="0" lvl="0" marL="0" marR="0" rtl="0" algn="ctr">
              <a:lnSpc>
                <a:spcPct val="80000"/>
              </a:lnSpc>
              <a:spcBef>
                <a:spcPts val="323"/>
              </a:spcBef>
              <a:spcAft>
                <a:spcPts val="0"/>
              </a:spcAft>
              <a:buClr>
                <a:srgbClr val="00B0F0"/>
              </a:buClr>
              <a:buSzPct val="100000"/>
              <a:buNone/>
            </a:pPr>
            <a:r>
              <a:rPr b="1" lang="en-IN" sz="3400">
                <a:solidFill>
                  <a:srgbClr val="00B0F0"/>
                </a:solidFill>
                <a:latin typeface="Times New Roman"/>
                <a:ea typeface="Times New Roman"/>
                <a:cs typeface="Times New Roman"/>
                <a:sym typeface="Times New Roman"/>
              </a:rPr>
              <a:t>Associate Professor </a:t>
            </a:r>
            <a:endParaRPr/>
          </a:p>
          <a:p>
            <a:pPr indent="0" lvl="0" marL="0" marR="0" rtl="0" algn="ctr">
              <a:lnSpc>
                <a:spcPct val="80000"/>
              </a:lnSpc>
              <a:spcBef>
                <a:spcPts val="228"/>
              </a:spcBef>
              <a:spcAft>
                <a:spcPts val="0"/>
              </a:spcAft>
              <a:buClr>
                <a:srgbClr val="888888"/>
              </a:buClr>
              <a:buSzPct val="100000"/>
              <a:buNone/>
            </a:pPr>
            <a:r>
              <a:t/>
            </a:r>
            <a:endParaRPr b="1" sz="2400">
              <a:solidFill>
                <a:srgbClr val="0070C0"/>
              </a:solidFill>
              <a:latin typeface="Times New Roman"/>
              <a:ea typeface="Times New Roman"/>
              <a:cs typeface="Times New Roman"/>
              <a:sym typeface="Times New Roman"/>
            </a:endParaRPr>
          </a:p>
          <a:p>
            <a:pPr indent="0" lvl="0" marL="0" marR="0" rtl="0" algn="ctr">
              <a:lnSpc>
                <a:spcPct val="80000"/>
              </a:lnSpc>
              <a:spcBef>
                <a:spcPts val="418"/>
              </a:spcBef>
              <a:spcAft>
                <a:spcPts val="0"/>
              </a:spcAft>
              <a:buClr>
                <a:srgbClr val="0070C0"/>
              </a:buClr>
              <a:buSzPct val="100000"/>
              <a:buNone/>
            </a:pPr>
            <a:r>
              <a:rPr b="1" lang="en-IN" sz="4400">
                <a:solidFill>
                  <a:srgbClr val="0070C0"/>
                </a:solidFill>
                <a:latin typeface="Times New Roman"/>
                <a:ea typeface="Times New Roman"/>
                <a:cs typeface="Times New Roman"/>
                <a:sym typeface="Times New Roman"/>
              </a:rPr>
              <a:t>Department of Computer Science and Engineering</a:t>
            </a:r>
            <a:endParaRPr/>
          </a:p>
          <a:p>
            <a:pPr indent="0" lvl="0" marL="0" marR="0" rtl="0" algn="ctr">
              <a:lnSpc>
                <a:spcPct val="80000"/>
              </a:lnSpc>
              <a:spcBef>
                <a:spcPts val="228"/>
              </a:spcBef>
              <a:spcAft>
                <a:spcPts val="0"/>
              </a:spcAft>
              <a:buClr>
                <a:srgbClr val="0D0D0D"/>
              </a:buClr>
              <a:buSzPct val="100000"/>
              <a:buNone/>
            </a:pPr>
            <a:r>
              <a:rPr b="1" lang="en-IN" sz="2400">
                <a:solidFill>
                  <a:srgbClr val="0D0D0D"/>
                </a:solidFill>
                <a:latin typeface="Times New Roman"/>
                <a:ea typeface="Times New Roman"/>
                <a:cs typeface="Times New Roman"/>
                <a:sym typeface="Times New Roman"/>
              </a:rPr>
              <a:t>                                                </a:t>
            </a:r>
            <a:r>
              <a:rPr lang="en-IN" sz="2400">
                <a:solidFill>
                  <a:srgbClr val="0D0D0D"/>
                </a:solidFill>
                <a:latin typeface="Times New Roman"/>
                <a:ea typeface="Times New Roman"/>
                <a:cs typeface="Times New Roman"/>
                <a:sym typeface="Times New Roman"/>
              </a:rPr>
              <a:t>                                                                          </a:t>
            </a:r>
            <a:endParaRPr/>
          </a:p>
        </p:txBody>
      </p:sp>
      <p:sp>
        <p:nvSpPr>
          <p:cNvPr id="90" name="Google Shape;90;p13"/>
          <p:cNvSpPr txBox="1"/>
          <p:nvPr/>
        </p:nvSpPr>
        <p:spPr>
          <a:xfrm>
            <a:off x="349155" y="5257800"/>
            <a:ext cx="9144000" cy="1365695"/>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None/>
            </a:pPr>
            <a:r>
              <a:rPr b="1" i="0" lang="en-IN" sz="2800" u="none" cap="none" strike="noStrike">
                <a:solidFill>
                  <a:schemeClr val="dk1"/>
                </a:solidFill>
                <a:latin typeface="Times New Roman"/>
                <a:ea typeface="Times New Roman"/>
                <a:cs typeface="Times New Roman"/>
                <a:sym typeface="Times New Roman"/>
              </a:rPr>
              <a:t>Koneru Lakshmaiah Education Foundation</a:t>
            </a:r>
            <a:br>
              <a:rPr b="1" i="0" lang="en-IN" sz="1800" u="none" cap="none" strike="noStrike">
                <a:solidFill>
                  <a:schemeClr val="dk1"/>
                </a:solidFill>
                <a:latin typeface="Times New Roman"/>
                <a:ea typeface="Times New Roman"/>
                <a:cs typeface="Times New Roman"/>
                <a:sym typeface="Times New Roman"/>
              </a:rPr>
            </a:br>
            <a:r>
              <a:rPr b="1" i="0" lang="en-IN" sz="1800" u="none" cap="none" strike="noStrike">
                <a:solidFill>
                  <a:schemeClr val="dk1"/>
                </a:solidFill>
                <a:latin typeface="Times New Roman"/>
                <a:ea typeface="Times New Roman"/>
                <a:cs typeface="Times New Roman"/>
                <a:sym typeface="Times New Roman"/>
              </a:rPr>
              <a:t>(Deemed to be University estd. u/s. 3 of the UGC Act, 1956)</a:t>
            </a:r>
            <a:br>
              <a:rPr b="1" i="0" lang="en-IN" sz="1800" u="none" cap="none" strike="noStrike">
                <a:solidFill>
                  <a:schemeClr val="dk1"/>
                </a:solidFill>
                <a:latin typeface="Times New Roman"/>
                <a:ea typeface="Times New Roman"/>
                <a:cs typeface="Times New Roman"/>
                <a:sym typeface="Times New Roman"/>
              </a:rPr>
            </a:br>
            <a:r>
              <a:rPr b="1" i="0" lang="en-IN" sz="1600" u="none" cap="none" strike="noStrike">
                <a:solidFill>
                  <a:schemeClr val="dk1"/>
                </a:solidFill>
                <a:latin typeface="Times New Roman"/>
                <a:ea typeface="Times New Roman"/>
                <a:cs typeface="Times New Roman"/>
                <a:sym typeface="Times New Roman"/>
              </a:rPr>
              <a:t>Off-Campus: Bachupally-Gandimaisamma Road, Bowrampet, Hyderabad, Telangana - 500 043.</a:t>
            </a:r>
            <a:br>
              <a:rPr b="1" i="0" lang="en-IN" sz="1600" u="none" cap="none" strike="noStrike">
                <a:solidFill>
                  <a:schemeClr val="dk1"/>
                </a:solidFill>
                <a:latin typeface="Times New Roman"/>
                <a:ea typeface="Times New Roman"/>
                <a:cs typeface="Times New Roman"/>
                <a:sym typeface="Times New Roman"/>
              </a:rPr>
            </a:br>
            <a:r>
              <a:rPr b="1" i="0" lang="en-IN" sz="1600" u="none" cap="none" strike="noStrike">
                <a:solidFill>
                  <a:schemeClr val="dk1"/>
                </a:solidFill>
                <a:latin typeface="Times New Roman"/>
                <a:ea typeface="Times New Roman"/>
                <a:cs typeface="Times New Roman"/>
                <a:sym typeface="Times New Roman"/>
              </a:rPr>
              <a:t>Phone No: 7815926816, </a:t>
            </a:r>
            <a:r>
              <a:rPr b="1" i="0" lang="en-IN" sz="1600" u="sng" cap="none" strike="noStrike">
                <a:solidFill>
                  <a:schemeClr val="hlink"/>
                </a:solidFill>
                <a:latin typeface="Times New Roman"/>
                <a:ea typeface="Times New Roman"/>
                <a:cs typeface="Times New Roman"/>
                <a:sym typeface="Times New Roman"/>
                <a:hlinkClick r:id="rId3"/>
              </a:rPr>
              <a:t>www.klh.edu.in</a:t>
            </a:r>
            <a:endParaRPr b="0" i="0" sz="1600" u="none" cap="none" strike="noStrike">
              <a:solidFill>
                <a:schemeClr val="dk1"/>
              </a:solidFill>
              <a:latin typeface="Arial"/>
              <a:ea typeface="Arial"/>
              <a:cs typeface="Arial"/>
              <a:sym typeface="Arial"/>
            </a:endParaRPr>
          </a:p>
        </p:txBody>
      </p:sp>
      <p:pic>
        <p:nvPicPr>
          <p:cNvPr id="91" name="Google Shape;91;p13"/>
          <p:cNvPicPr preferRelativeResize="0"/>
          <p:nvPr/>
        </p:nvPicPr>
        <p:blipFill rotWithShape="1">
          <a:blip r:embed="rId4">
            <a:alphaModFix/>
          </a:blip>
          <a:srcRect b="0" l="0" r="0" t="0"/>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4"/>
          <p:cNvSpPr txBox="1"/>
          <p:nvPr>
            <p:ph type="title"/>
          </p:nvPr>
        </p:nvSpPr>
        <p:spPr>
          <a:xfrm>
            <a:off x="457200" y="160336"/>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2800"/>
              <a:buFont typeface="Times New Roman"/>
              <a:buNone/>
            </a:pPr>
            <a:r>
              <a:rPr b="1" lang="en-IN" sz="2800">
                <a:solidFill>
                  <a:srgbClr val="0070C0"/>
                </a:solidFill>
                <a:latin typeface="Times New Roman"/>
                <a:ea typeface="Times New Roman"/>
                <a:cs typeface="Times New Roman"/>
                <a:sym typeface="Times New Roman"/>
              </a:rPr>
              <a:t>Outline of the Presentation</a:t>
            </a:r>
            <a:endParaRPr/>
          </a:p>
        </p:txBody>
      </p:sp>
      <p:sp>
        <p:nvSpPr>
          <p:cNvPr id="97" name="Google Shape;97;p14"/>
          <p:cNvSpPr txBox="1"/>
          <p:nvPr>
            <p:ph idx="1" type="body"/>
          </p:nvPr>
        </p:nvSpPr>
        <p:spPr>
          <a:xfrm>
            <a:off x="304800" y="1447801"/>
            <a:ext cx="8839200" cy="4678363"/>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Clr>
                <a:schemeClr val="dk1"/>
              </a:buClr>
              <a:buSzPct val="100000"/>
              <a:buChar char="•"/>
            </a:pPr>
            <a:r>
              <a:rPr lang="en-IN">
                <a:latin typeface="Times New Roman"/>
                <a:ea typeface="Times New Roman"/>
                <a:cs typeface="Times New Roman"/>
                <a:sym typeface="Times New Roman"/>
              </a:rPr>
              <a:t>Abstract</a:t>
            </a:r>
            <a:endParaRPr/>
          </a:p>
          <a:p>
            <a:pPr indent="-342900" lvl="0" marL="342900" rtl="0" algn="l">
              <a:spcBef>
                <a:spcPts val="592"/>
              </a:spcBef>
              <a:spcAft>
                <a:spcPts val="0"/>
              </a:spcAft>
              <a:buClr>
                <a:schemeClr val="dk1"/>
              </a:buClr>
              <a:buSzPct val="100000"/>
              <a:buChar char="•"/>
            </a:pPr>
            <a:r>
              <a:rPr lang="en-IN">
                <a:latin typeface="Times New Roman"/>
                <a:ea typeface="Times New Roman"/>
                <a:cs typeface="Times New Roman"/>
                <a:sym typeface="Times New Roman"/>
              </a:rPr>
              <a:t>Introduction</a:t>
            </a:r>
            <a:endParaRPr/>
          </a:p>
          <a:p>
            <a:pPr indent="-342900" lvl="0" marL="342900" rtl="0" algn="l">
              <a:spcBef>
                <a:spcPts val="592"/>
              </a:spcBef>
              <a:spcAft>
                <a:spcPts val="0"/>
              </a:spcAft>
              <a:buClr>
                <a:schemeClr val="dk1"/>
              </a:buClr>
              <a:buSzPct val="100000"/>
              <a:buChar char="•"/>
            </a:pPr>
            <a:r>
              <a:rPr lang="en-IN">
                <a:latin typeface="Times New Roman"/>
                <a:ea typeface="Times New Roman"/>
                <a:cs typeface="Times New Roman"/>
                <a:sym typeface="Times New Roman"/>
              </a:rPr>
              <a:t>Problem Statement</a:t>
            </a:r>
            <a:endParaRPr/>
          </a:p>
          <a:p>
            <a:pPr indent="-342900" lvl="0" marL="342900" rtl="0" algn="l">
              <a:spcBef>
                <a:spcPts val="592"/>
              </a:spcBef>
              <a:spcAft>
                <a:spcPts val="0"/>
              </a:spcAft>
              <a:buClr>
                <a:schemeClr val="dk1"/>
              </a:buClr>
              <a:buSzPct val="100000"/>
              <a:buChar char="•"/>
            </a:pPr>
            <a:r>
              <a:rPr lang="en-IN">
                <a:latin typeface="Times New Roman"/>
                <a:ea typeface="Times New Roman"/>
                <a:cs typeface="Times New Roman"/>
                <a:sym typeface="Times New Roman"/>
              </a:rPr>
              <a:t>Project Flow Diagram</a:t>
            </a:r>
            <a:endParaRPr/>
          </a:p>
          <a:p>
            <a:pPr indent="-342900" lvl="0" marL="342900" rtl="0" algn="l">
              <a:spcBef>
                <a:spcPts val="592"/>
              </a:spcBef>
              <a:spcAft>
                <a:spcPts val="0"/>
              </a:spcAft>
              <a:buClr>
                <a:schemeClr val="dk1"/>
              </a:buClr>
              <a:buSzPct val="100000"/>
              <a:buChar char="•"/>
            </a:pPr>
            <a:r>
              <a:rPr lang="en-IN">
                <a:latin typeface="Times New Roman"/>
                <a:ea typeface="Times New Roman"/>
                <a:cs typeface="Times New Roman"/>
                <a:sym typeface="Times New Roman"/>
              </a:rPr>
              <a:t>Objectives with Justification</a:t>
            </a:r>
            <a:endParaRPr/>
          </a:p>
          <a:p>
            <a:pPr indent="-342900" lvl="0" marL="342900" rtl="0" algn="l">
              <a:spcBef>
                <a:spcPts val="592"/>
              </a:spcBef>
              <a:spcAft>
                <a:spcPts val="0"/>
              </a:spcAft>
              <a:buClr>
                <a:schemeClr val="dk1"/>
              </a:buClr>
              <a:buSzPct val="100000"/>
              <a:buChar char="•"/>
            </a:pPr>
            <a:r>
              <a:rPr lang="en-IN">
                <a:latin typeface="Times New Roman"/>
                <a:ea typeface="Times New Roman"/>
                <a:cs typeface="Times New Roman"/>
                <a:sym typeface="Times New Roman"/>
              </a:rPr>
              <a:t>Modules[Frontend web pages]</a:t>
            </a:r>
            <a:endParaRPr/>
          </a:p>
          <a:p>
            <a:pPr indent="-342900" lvl="0" marL="342900" rtl="0" algn="l">
              <a:spcBef>
                <a:spcPts val="592"/>
              </a:spcBef>
              <a:spcAft>
                <a:spcPts val="0"/>
              </a:spcAft>
              <a:buClr>
                <a:schemeClr val="dk1"/>
              </a:buClr>
              <a:buSzPct val="100000"/>
              <a:buChar char="•"/>
            </a:pPr>
            <a:r>
              <a:rPr lang="en-IN">
                <a:latin typeface="Times New Roman"/>
                <a:ea typeface="Times New Roman"/>
                <a:cs typeface="Times New Roman"/>
                <a:sym typeface="Times New Roman"/>
              </a:rPr>
              <a:t>Expected Outcomes of the Proposed Work</a:t>
            </a:r>
            <a:endParaRPr/>
          </a:p>
          <a:p>
            <a:pPr indent="-342900" lvl="0" marL="342900" rtl="0" algn="l">
              <a:spcBef>
                <a:spcPts val="592"/>
              </a:spcBef>
              <a:spcAft>
                <a:spcPts val="0"/>
              </a:spcAft>
              <a:buClr>
                <a:schemeClr val="dk1"/>
              </a:buClr>
              <a:buSzPct val="100000"/>
              <a:buChar char="•"/>
            </a:pPr>
            <a:r>
              <a:rPr lang="en-IN">
                <a:latin typeface="Times New Roman"/>
                <a:ea typeface="Times New Roman"/>
                <a:cs typeface="Times New Roman"/>
                <a:sym typeface="Times New Roman"/>
              </a:rPr>
              <a:t>Conclusion </a:t>
            </a:r>
            <a:endParaRPr/>
          </a:p>
          <a:p>
            <a:pPr indent="-342900" lvl="0" marL="342900" rtl="0" algn="l">
              <a:spcBef>
                <a:spcPts val="592"/>
              </a:spcBef>
              <a:spcAft>
                <a:spcPts val="0"/>
              </a:spcAft>
              <a:buClr>
                <a:schemeClr val="dk1"/>
              </a:buClr>
              <a:buSzPct val="100000"/>
              <a:buChar char="•"/>
            </a:pPr>
            <a:r>
              <a:rPr lang="en-IN">
                <a:latin typeface="Times New Roman"/>
                <a:ea typeface="Times New Roman"/>
                <a:cs typeface="Times New Roman"/>
                <a:sym typeface="Times New Roman"/>
              </a:rPr>
              <a:t>References</a:t>
            </a:r>
            <a:endParaRPr/>
          </a:p>
          <a:p>
            <a:pPr indent="-154940" lvl="0" marL="342900" rtl="0" algn="l">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154940" lvl="0" marL="342900" rtl="0" algn="l">
              <a:spcBef>
                <a:spcPts val="592"/>
              </a:spcBef>
              <a:spcAft>
                <a:spcPts val="0"/>
              </a:spcAft>
              <a:buClr>
                <a:schemeClr val="dk1"/>
              </a:buClr>
              <a:buSzPct val="100000"/>
              <a:buNone/>
            </a:pPr>
            <a:r>
              <a:t/>
            </a:r>
            <a:endParaRPr>
              <a:latin typeface="Times New Roman"/>
              <a:ea typeface="Times New Roman"/>
              <a:cs typeface="Times New Roman"/>
              <a:sym typeface="Times New Roman"/>
            </a:endParaRPr>
          </a:p>
          <a:p>
            <a:pPr indent="-154940" lvl="0" marL="342900" rtl="0" algn="l">
              <a:spcBef>
                <a:spcPts val="592"/>
              </a:spcBef>
              <a:spcAft>
                <a:spcPts val="0"/>
              </a:spcAft>
              <a:buClr>
                <a:schemeClr val="dk1"/>
              </a:buClr>
              <a:buSzPct val="100000"/>
              <a:buNone/>
            </a:pPr>
            <a:r>
              <a:t/>
            </a:r>
            <a:endParaRPr/>
          </a:p>
        </p:txBody>
      </p:sp>
      <p:pic>
        <p:nvPicPr>
          <p:cNvPr id="98" name="Google Shape;98;p14"/>
          <p:cNvPicPr preferRelativeResize="0"/>
          <p:nvPr/>
        </p:nvPicPr>
        <p:blipFill rotWithShape="1">
          <a:blip r:embed="rId3">
            <a:alphaModFix/>
          </a:blip>
          <a:srcRect b="0" l="0" r="0" t="0"/>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2800"/>
              <a:buFont typeface="Times New Roman"/>
              <a:buNone/>
            </a:pPr>
            <a:r>
              <a:rPr b="1" lang="en-IN" sz="2800">
                <a:solidFill>
                  <a:srgbClr val="0070C0"/>
                </a:solidFill>
                <a:latin typeface="Times New Roman"/>
                <a:ea typeface="Times New Roman"/>
                <a:cs typeface="Times New Roman"/>
                <a:sym typeface="Times New Roman"/>
              </a:rPr>
              <a:t>Abstract</a:t>
            </a:r>
            <a:endParaRPr sz="2800"/>
          </a:p>
        </p:txBody>
      </p:sp>
      <p:sp>
        <p:nvSpPr>
          <p:cNvPr id="104" name="Google Shape;104;p15"/>
          <p:cNvSpPr txBox="1"/>
          <p:nvPr>
            <p:ph idx="1" type="body"/>
          </p:nvPr>
        </p:nvSpPr>
        <p:spPr>
          <a:xfrm>
            <a:off x="228600" y="1295400"/>
            <a:ext cx="8763000" cy="55626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400"/>
              <a:buChar char="•"/>
            </a:pPr>
            <a:r>
              <a:rPr lang="en-IN" sz="1400"/>
              <a:t>The </a:t>
            </a:r>
            <a:r>
              <a:rPr b="1" lang="en-IN" sz="1400"/>
              <a:t>Doctor Appointment Booking System</a:t>
            </a:r>
            <a:r>
              <a:rPr lang="en-IN" sz="1400"/>
              <a:t> is a web-based healthcare application designed to simplify and digitize the process of scheduling medical appointments. In traditional healthcare systems, booking appointments often involves manual procedures, long waiting times, and difficulty in checking doctor availability. This project aims to overcome these challenges by providing an efficient, user-friendly, and centralized online platform for appointment management.</a:t>
            </a:r>
            <a:endParaRPr/>
          </a:p>
          <a:p>
            <a:pPr indent="-254000" lvl="0" marL="342900" rtl="0" algn="l">
              <a:spcBef>
                <a:spcPts val="280"/>
              </a:spcBef>
              <a:spcAft>
                <a:spcPts val="0"/>
              </a:spcAft>
              <a:buClr>
                <a:schemeClr val="dk1"/>
              </a:buClr>
              <a:buSzPts val="1400"/>
              <a:buNone/>
            </a:pPr>
            <a:r>
              <a:t/>
            </a:r>
            <a:endParaRPr sz="1400"/>
          </a:p>
          <a:p>
            <a:pPr indent="-342900" lvl="0" marL="342900" rtl="0" algn="l">
              <a:spcBef>
                <a:spcPts val="280"/>
              </a:spcBef>
              <a:spcAft>
                <a:spcPts val="0"/>
              </a:spcAft>
              <a:buClr>
                <a:schemeClr val="dk1"/>
              </a:buClr>
              <a:buSzPts val="1400"/>
              <a:buChar char="•"/>
            </a:pPr>
            <a:r>
              <a:rPr lang="en-IN" sz="1400"/>
              <a:t>The system allows patients to search doctors based on specialization, location, and availability. Users can view doctor profiles, select preferred appointment dates using an interactive calendar, choose available time slots, and confirm bookings instantly. The application also provides facilities such as appointment reminders, booking history, cancellation, rescheduling, and patient profile management for better convenience and accessibility.</a:t>
            </a:r>
            <a:endParaRPr/>
          </a:p>
          <a:p>
            <a:pPr indent="-254000" lvl="0" marL="342900" rtl="0" algn="l">
              <a:spcBef>
                <a:spcPts val="280"/>
              </a:spcBef>
              <a:spcAft>
                <a:spcPts val="0"/>
              </a:spcAft>
              <a:buClr>
                <a:schemeClr val="dk1"/>
              </a:buClr>
              <a:buSzPts val="1400"/>
              <a:buNone/>
            </a:pPr>
            <a:r>
              <a:t/>
            </a:r>
            <a:endParaRPr sz="1400"/>
          </a:p>
          <a:p>
            <a:pPr indent="-342900" lvl="0" marL="342900" rtl="0" algn="l">
              <a:spcBef>
                <a:spcPts val="280"/>
              </a:spcBef>
              <a:spcAft>
                <a:spcPts val="0"/>
              </a:spcAft>
              <a:buClr>
                <a:schemeClr val="dk1"/>
              </a:buClr>
              <a:buSzPts val="1400"/>
              <a:buChar char="•"/>
            </a:pPr>
            <a:r>
              <a:rPr lang="en-IN" sz="1400"/>
              <a:t>An administrative panel is provided to manage doctor profiles, schedules, patient appointments, and booking records efficiently. Administrators can add new doctors, update availability slots, monitor appointments, and manage overall system operations. This helps improve hospital workflow, reduce scheduling conflicts, and enhance service quality.</a:t>
            </a:r>
            <a:endParaRPr/>
          </a:p>
          <a:p>
            <a:pPr indent="-254000" lvl="0" marL="342900" rtl="0" algn="l">
              <a:spcBef>
                <a:spcPts val="280"/>
              </a:spcBef>
              <a:spcAft>
                <a:spcPts val="0"/>
              </a:spcAft>
              <a:buClr>
                <a:schemeClr val="dk1"/>
              </a:buClr>
              <a:buSzPts val="1400"/>
              <a:buNone/>
            </a:pPr>
            <a:r>
              <a:t/>
            </a:r>
            <a:endParaRPr sz="1400"/>
          </a:p>
          <a:p>
            <a:pPr indent="-342900" lvl="0" marL="342900" rtl="0" algn="l">
              <a:spcBef>
                <a:spcPts val="280"/>
              </a:spcBef>
              <a:spcAft>
                <a:spcPts val="0"/>
              </a:spcAft>
              <a:buClr>
                <a:schemeClr val="dk1"/>
              </a:buClr>
              <a:buSzPts val="1400"/>
              <a:buChar char="•"/>
            </a:pPr>
            <a:r>
              <a:rPr lang="en-IN" sz="1400"/>
              <a:t>The frontend of the application is developed using </a:t>
            </a:r>
            <a:r>
              <a:rPr b="1" lang="en-IN" sz="1400"/>
              <a:t>React.js</a:t>
            </a:r>
            <a:r>
              <a:rPr lang="en-IN" sz="1400"/>
              <a:t> to provide a responsive and interactive user interface, while the backend uses </a:t>
            </a:r>
            <a:r>
              <a:rPr b="1" lang="en-IN" sz="1400"/>
              <a:t>Node.js and Express.js</a:t>
            </a:r>
            <a:r>
              <a:rPr lang="en-IN" sz="1400"/>
              <a:t> for server-side processing and API integration. Data is managed using </a:t>
            </a:r>
            <a:r>
              <a:rPr b="1" lang="en-IN" sz="1400"/>
              <a:t> Local Storage</a:t>
            </a:r>
            <a:r>
              <a:rPr lang="en-IN" sz="1400"/>
              <a:t> depending on implementation requirements. The system ensures efficient appointment management, reduces manual workload, improves patient satisfaction, and supports digital transformation in healthcare services.</a:t>
            </a:r>
            <a:endParaRPr/>
          </a:p>
        </p:txBody>
      </p:sp>
      <p:pic>
        <p:nvPicPr>
          <p:cNvPr id="105" name="Google Shape;105;p15"/>
          <p:cNvPicPr preferRelativeResize="0"/>
          <p:nvPr/>
        </p:nvPicPr>
        <p:blipFill rotWithShape="1">
          <a:blip r:embed="rId3">
            <a:alphaModFix/>
          </a:blip>
          <a:srcRect b="0" l="0" r="0" t="0"/>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2800"/>
              <a:buFont typeface="Times New Roman"/>
              <a:buNone/>
            </a:pPr>
            <a:r>
              <a:rPr b="1" lang="en-IN" sz="2800">
                <a:solidFill>
                  <a:srgbClr val="0070C0"/>
                </a:solidFill>
                <a:latin typeface="Times New Roman"/>
                <a:ea typeface="Times New Roman"/>
                <a:cs typeface="Times New Roman"/>
                <a:sym typeface="Times New Roman"/>
              </a:rPr>
              <a:t>Introduction</a:t>
            </a:r>
            <a:endParaRPr/>
          </a:p>
        </p:txBody>
      </p:sp>
      <p:sp>
        <p:nvSpPr>
          <p:cNvPr id="111" name="Google Shape;111;p16"/>
          <p:cNvSpPr txBox="1"/>
          <p:nvPr>
            <p:ph idx="1" type="body"/>
          </p:nvPr>
        </p:nvSpPr>
        <p:spPr>
          <a:xfrm>
            <a:off x="457200" y="1600201"/>
            <a:ext cx="8229600" cy="4525963"/>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IN"/>
              <a:t> </a:t>
            </a:r>
            <a:r>
              <a:rPr b="1" lang="en-IN"/>
              <a:t>MedBook</a:t>
            </a:r>
            <a:r>
              <a:rPr lang="en-IN"/>
              <a:t> is a web-based </a:t>
            </a:r>
            <a:r>
              <a:rPr b="1" lang="en-IN"/>
              <a:t>Doctor Appointment Booking System</a:t>
            </a:r>
            <a:r>
              <a:rPr lang="en-IN"/>
              <a:t> developed using </a:t>
            </a:r>
            <a:r>
              <a:rPr b="1" lang="en-IN"/>
              <a:t>React.js</a:t>
            </a:r>
            <a:r>
              <a:rPr lang="en-IN"/>
              <a:t>.</a:t>
            </a:r>
            <a:endParaRPr/>
          </a:p>
          <a:p>
            <a:pPr indent="-342900" lvl="0" marL="342900" rtl="0" algn="l">
              <a:spcBef>
                <a:spcPts val="448"/>
              </a:spcBef>
              <a:spcAft>
                <a:spcPts val="0"/>
              </a:spcAft>
              <a:buClr>
                <a:schemeClr val="dk1"/>
              </a:buClr>
              <a:buSzPct val="100000"/>
              <a:buChar char="•"/>
            </a:pPr>
            <a:r>
              <a:rPr lang="en-IN"/>
              <a:t> The application provides separate portals for </a:t>
            </a:r>
            <a:r>
              <a:rPr b="1" lang="en-IN"/>
              <a:t>Patients</a:t>
            </a:r>
            <a:r>
              <a:rPr lang="en-IN"/>
              <a:t> and </a:t>
            </a:r>
            <a:r>
              <a:rPr b="1" lang="en-IN"/>
              <a:t>Doctors</a:t>
            </a:r>
            <a:r>
              <a:rPr lang="en-IN"/>
              <a:t> to manage appointments efficiently.</a:t>
            </a:r>
            <a:endParaRPr/>
          </a:p>
          <a:p>
            <a:pPr indent="-342900" lvl="0" marL="342900" rtl="0" algn="l">
              <a:spcBef>
                <a:spcPts val="448"/>
              </a:spcBef>
              <a:spcAft>
                <a:spcPts val="0"/>
              </a:spcAft>
              <a:buClr>
                <a:schemeClr val="dk1"/>
              </a:buClr>
              <a:buSzPct val="100000"/>
              <a:buChar char="•"/>
            </a:pPr>
            <a:r>
              <a:rPr lang="en-IN"/>
              <a:t> Patients can register, search doctors by specialization, book appointments, track appointment status, and manage their profiles.</a:t>
            </a:r>
            <a:endParaRPr/>
          </a:p>
          <a:p>
            <a:pPr indent="-342900" lvl="0" marL="342900" rtl="0" algn="l">
              <a:spcBef>
                <a:spcPts val="448"/>
              </a:spcBef>
              <a:spcAft>
                <a:spcPts val="0"/>
              </a:spcAft>
              <a:buClr>
                <a:schemeClr val="dk1"/>
              </a:buClr>
              <a:buSzPct val="100000"/>
              <a:buChar char="•"/>
            </a:pPr>
            <a:r>
              <a:rPr lang="en-IN"/>
              <a:t> Doctors can view appointment requests, approve or reject bookings, update availability, and manage schedules.</a:t>
            </a:r>
            <a:endParaRPr/>
          </a:p>
          <a:p>
            <a:pPr indent="-342900" lvl="0" marL="342900" rtl="0" algn="l">
              <a:spcBef>
                <a:spcPts val="448"/>
              </a:spcBef>
              <a:spcAft>
                <a:spcPts val="0"/>
              </a:spcAft>
              <a:buClr>
                <a:schemeClr val="dk1"/>
              </a:buClr>
              <a:buSzPct val="100000"/>
              <a:buChar char="•"/>
            </a:pPr>
            <a:r>
              <a:rPr lang="en-IN"/>
              <a:t> The system reduces manual appointment handling, saves time, and improves communication between doctors and patients.</a:t>
            </a:r>
            <a:endParaRPr/>
          </a:p>
          <a:p>
            <a:pPr indent="-342900" lvl="0" marL="342900" rtl="0" algn="l">
              <a:spcBef>
                <a:spcPts val="448"/>
              </a:spcBef>
              <a:spcAft>
                <a:spcPts val="0"/>
              </a:spcAft>
              <a:buClr>
                <a:schemeClr val="dk1"/>
              </a:buClr>
              <a:buSzPct val="100000"/>
              <a:buChar char="•"/>
            </a:pPr>
            <a:r>
              <a:rPr lang="en-IN"/>
              <a:t> The project demonstrates modern </a:t>
            </a:r>
            <a:r>
              <a:rPr b="1" lang="en-IN"/>
              <a:t>Front-End Engineering</a:t>
            </a:r>
            <a:r>
              <a:rPr lang="en-IN"/>
              <a:t> concepts such as component-based architecture, routing, state management, reusable components, and responsive design.</a:t>
            </a:r>
            <a:endParaRPr/>
          </a:p>
          <a:p>
            <a:pPr indent="-200660" lvl="0" marL="342900" rtl="0" algn="l">
              <a:spcBef>
                <a:spcPts val="448"/>
              </a:spcBef>
              <a:spcAft>
                <a:spcPts val="0"/>
              </a:spcAft>
              <a:buClr>
                <a:schemeClr val="dk1"/>
              </a:buClr>
              <a:buSzPct val="100000"/>
              <a:buNone/>
            </a:pPr>
            <a:r>
              <a:t/>
            </a:r>
            <a:endParaRPr/>
          </a:p>
        </p:txBody>
      </p:sp>
      <p:pic>
        <p:nvPicPr>
          <p:cNvPr id="112" name="Google Shape;112;p16"/>
          <p:cNvPicPr preferRelativeResize="0"/>
          <p:nvPr/>
        </p:nvPicPr>
        <p:blipFill rotWithShape="1">
          <a:blip r:embed="rId3">
            <a:alphaModFix/>
          </a:blip>
          <a:srcRect b="0" l="0" r="0" t="0"/>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70C0"/>
              </a:buClr>
              <a:buSzPct val="100000"/>
              <a:buFont typeface="Times New Roman"/>
              <a:buNone/>
            </a:pPr>
            <a:r>
              <a:rPr b="1" lang="en-IN" sz="3100">
                <a:solidFill>
                  <a:srgbClr val="0070C0"/>
                </a:solidFill>
                <a:latin typeface="Times New Roman"/>
                <a:ea typeface="Times New Roman"/>
                <a:cs typeface="Times New Roman"/>
                <a:sym typeface="Times New Roman"/>
              </a:rPr>
              <a:t>Problem Statement</a:t>
            </a:r>
            <a:br>
              <a:rPr b="1" lang="en-IN">
                <a:solidFill>
                  <a:srgbClr val="0070C0"/>
                </a:solidFill>
                <a:latin typeface="Times New Roman"/>
                <a:ea typeface="Times New Roman"/>
                <a:cs typeface="Times New Roman"/>
                <a:sym typeface="Times New Roman"/>
              </a:rPr>
            </a:br>
            <a:endParaRPr b="1">
              <a:solidFill>
                <a:srgbClr val="0070C0"/>
              </a:solidFill>
              <a:latin typeface="Times New Roman"/>
              <a:ea typeface="Times New Roman"/>
              <a:cs typeface="Times New Roman"/>
              <a:sym typeface="Times New Roman"/>
            </a:endParaRPr>
          </a:p>
        </p:txBody>
      </p:sp>
      <p:sp>
        <p:nvSpPr>
          <p:cNvPr id="118" name="Google Shape;118;p17"/>
          <p:cNvSpPr txBox="1"/>
          <p:nvPr>
            <p:ph idx="1" type="body"/>
          </p:nvPr>
        </p:nvSpPr>
        <p:spPr>
          <a:xfrm>
            <a:off x="457200" y="1295401"/>
            <a:ext cx="8229600" cy="4830764"/>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IN"/>
              <a:t>Traditional appointment booking methods are often manual, time-consuming, and inefficient.</a:t>
            </a:r>
            <a:endParaRPr/>
          </a:p>
          <a:p>
            <a:pPr indent="-342900" lvl="0" marL="342900" rtl="0" algn="l">
              <a:spcBef>
                <a:spcPts val="448"/>
              </a:spcBef>
              <a:spcAft>
                <a:spcPts val="0"/>
              </a:spcAft>
              <a:buClr>
                <a:schemeClr val="dk1"/>
              </a:buClr>
              <a:buSzPct val="100000"/>
              <a:buChar char="•"/>
            </a:pPr>
            <a:r>
              <a:rPr lang="en-IN"/>
              <a:t>Patients face difficulties in finding suitable doctors, checking     availability, and scheduling appointments conveniently.</a:t>
            </a:r>
            <a:endParaRPr/>
          </a:p>
          <a:p>
            <a:pPr indent="-342900" lvl="0" marL="342900" rtl="0" algn="l">
              <a:spcBef>
                <a:spcPts val="448"/>
              </a:spcBef>
              <a:spcAft>
                <a:spcPts val="0"/>
              </a:spcAft>
              <a:buClr>
                <a:schemeClr val="dk1"/>
              </a:buClr>
              <a:buSzPct val="100000"/>
              <a:buChar char="•"/>
            </a:pPr>
            <a:r>
              <a:rPr lang="en-IN"/>
              <a:t>Manual systems can lead to long waiting times, appointment conflicts.</a:t>
            </a:r>
            <a:endParaRPr/>
          </a:p>
          <a:p>
            <a:pPr indent="-342900" lvl="0" marL="342900" rtl="0" algn="l">
              <a:spcBef>
                <a:spcPts val="448"/>
              </a:spcBef>
              <a:spcAft>
                <a:spcPts val="0"/>
              </a:spcAft>
              <a:buClr>
                <a:schemeClr val="dk1"/>
              </a:buClr>
              <a:buSzPct val="100000"/>
              <a:buChar char="•"/>
            </a:pPr>
            <a:r>
              <a:rPr lang="en-IN"/>
              <a:t> Doctors often struggle to manage patient appointments and availability efficiently.</a:t>
            </a:r>
            <a:endParaRPr/>
          </a:p>
          <a:p>
            <a:pPr indent="-342900" lvl="0" marL="342900" rtl="0" algn="l">
              <a:spcBef>
                <a:spcPts val="448"/>
              </a:spcBef>
              <a:spcAft>
                <a:spcPts val="0"/>
              </a:spcAft>
              <a:buClr>
                <a:schemeClr val="dk1"/>
              </a:buClr>
              <a:buSzPct val="100000"/>
              <a:buChar char="•"/>
            </a:pPr>
            <a:r>
              <a:rPr lang="en-IN"/>
              <a:t>There is a need for a centralized digital platform that simplifies appointment scheduling and improves communication between patients and doctors.</a:t>
            </a:r>
            <a:endParaRPr/>
          </a:p>
          <a:p>
            <a:pPr indent="-342900" lvl="0" marL="342900" rtl="0" algn="l">
              <a:spcBef>
                <a:spcPts val="448"/>
              </a:spcBef>
              <a:spcAft>
                <a:spcPts val="0"/>
              </a:spcAft>
              <a:buClr>
                <a:schemeClr val="dk1"/>
              </a:buClr>
              <a:buSzPct val="100000"/>
              <a:buChar char="•"/>
            </a:pPr>
            <a:r>
              <a:rPr lang="en-IN"/>
              <a:t>The proposed </a:t>
            </a:r>
            <a:r>
              <a:rPr b="1" lang="en-IN"/>
              <a:t>Doctor Appointment Booking System (MedBook)</a:t>
            </a:r>
            <a:r>
              <a:rPr lang="en-IN"/>
              <a:t> provides an online solution for doctor search, appointment booking, status tracking, profile management, and schedule management through a user-friendly interface.</a:t>
            </a:r>
            <a:endParaRPr/>
          </a:p>
          <a:p>
            <a:pPr indent="-200660" lvl="0" marL="342900" rtl="0" algn="l">
              <a:spcBef>
                <a:spcPts val="448"/>
              </a:spcBef>
              <a:spcAft>
                <a:spcPts val="0"/>
              </a:spcAft>
              <a:buClr>
                <a:schemeClr val="dk1"/>
              </a:buClr>
              <a:buSzPct val="100000"/>
              <a:buNone/>
            </a:pPr>
            <a:r>
              <a:t/>
            </a:r>
            <a:endParaRPr/>
          </a:p>
        </p:txBody>
      </p:sp>
      <p:pic>
        <p:nvPicPr>
          <p:cNvPr id="119" name="Google Shape;119;p17"/>
          <p:cNvPicPr preferRelativeResize="0"/>
          <p:nvPr/>
        </p:nvPicPr>
        <p:blipFill rotWithShape="1">
          <a:blip r:embed="rId3">
            <a:alphaModFix/>
          </a:blip>
          <a:srcRect b="0" l="0" r="0" t="0"/>
          <a:stretch/>
        </p:blipFill>
        <p:spPr>
          <a:xfrm>
            <a:off x="228600" y="228599"/>
            <a:ext cx="1371600" cy="609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304800" y="-150019"/>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2800"/>
              <a:buFont typeface="Times New Roman"/>
              <a:buNone/>
            </a:pPr>
            <a:r>
              <a:rPr b="1" lang="en-IN" sz="2800">
                <a:solidFill>
                  <a:srgbClr val="0070C0"/>
                </a:solidFill>
                <a:latin typeface="Times New Roman"/>
                <a:ea typeface="Times New Roman"/>
                <a:cs typeface="Times New Roman"/>
                <a:sym typeface="Times New Roman"/>
              </a:rPr>
              <a:t>Project Flow Diagram</a:t>
            </a:r>
            <a:endParaRPr/>
          </a:p>
        </p:txBody>
      </p:sp>
      <p:pic>
        <p:nvPicPr>
          <p:cNvPr id="125" name="Google Shape;125;p18"/>
          <p:cNvPicPr preferRelativeResize="0"/>
          <p:nvPr>
            <p:ph idx="1" type="body"/>
          </p:nvPr>
        </p:nvPicPr>
        <p:blipFill rotWithShape="1">
          <a:blip r:embed="rId3">
            <a:alphaModFix/>
          </a:blip>
          <a:srcRect b="0" l="0" r="0" t="0"/>
          <a:stretch/>
        </p:blipFill>
        <p:spPr>
          <a:xfrm>
            <a:off x="228600" y="989967"/>
            <a:ext cx="8610600" cy="5791833"/>
          </a:xfrm>
          <a:prstGeom prst="rect">
            <a:avLst/>
          </a:prstGeom>
          <a:noFill/>
          <a:ln>
            <a:noFill/>
          </a:ln>
        </p:spPr>
      </p:pic>
      <p:pic>
        <p:nvPicPr>
          <p:cNvPr id="126" name="Google Shape;126;p18"/>
          <p:cNvPicPr preferRelativeResize="0"/>
          <p:nvPr/>
        </p:nvPicPr>
        <p:blipFill rotWithShape="1">
          <a:blip r:embed="rId4">
            <a:alphaModFix/>
          </a:blip>
          <a:srcRect b="0" l="0" r="0" t="0"/>
          <a:stretch/>
        </p:blipFill>
        <p:spPr>
          <a:xfrm>
            <a:off x="228600" y="157795"/>
            <a:ext cx="1447800" cy="6096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1066800" y="274638"/>
            <a:ext cx="7848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70C0"/>
              </a:buClr>
              <a:buSzPct val="100000"/>
              <a:buFont typeface="Times New Roman"/>
              <a:buNone/>
            </a:pPr>
            <a:r>
              <a:rPr b="1" lang="en-IN" sz="3100">
                <a:solidFill>
                  <a:srgbClr val="0070C0"/>
                </a:solidFill>
                <a:latin typeface="Times New Roman"/>
                <a:ea typeface="Times New Roman"/>
                <a:cs typeface="Times New Roman"/>
                <a:sym typeface="Times New Roman"/>
              </a:rPr>
              <a:t>Objectives with Justification</a:t>
            </a:r>
            <a:br>
              <a:rPr b="1" lang="en-IN">
                <a:solidFill>
                  <a:srgbClr val="0070C0"/>
                </a:solidFill>
                <a:latin typeface="Times New Roman"/>
                <a:ea typeface="Times New Roman"/>
                <a:cs typeface="Times New Roman"/>
                <a:sym typeface="Times New Roman"/>
              </a:rPr>
            </a:br>
            <a:endParaRPr b="1">
              <a:solidFill>
                <a:srgbClr val="0070C0"/>
              </a:solidFill>
              <a:latin typeface="Times New Roman"/>
              <a:ea typeface="Times New Roman"/>
              <a:cs typeface="Times New Roman"/>
              <a:sym typeface="Times New Roman"/>
            </a:endParaRPr>
          </a:p>
        </p:txBody>
      </p:sp>
      <p:sp>
        <p:nvSpPr>
          <p:cNvPr id="132" name="Google Shape;132;p19"/>
          <p:cNvSpPr txBox="1"/>
          <p:nvPr>
            <p:ph idx="1" type="body"/>
          </p:nvPr>
        </p:nvSpPr>
        <p:spPr>
          <a:xfrm>
            <a:off x="457200" y="1295401"/>
            <a:ext cx="8229600" cy="4830764"/>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spcBef>
                <a:spcPts val="0"/>
              </a:spcBef>
              <a:spcAft>
                <a:spcPts val="0"/>
              </a:spcAft>
              <a:buClr>
                <a:schemeClr val="dk1"/>
              </a:buClr>
              <a:buSzPct val="100000"/>
              <a:buNone/>
            </a:pPr>
            <a:r>
              <a:rPr lang="en-IN"/>
              <a:t>• </a:t>
            </a:r>
            <a:r>
              <a:rPr b="1" lang="en-IN"/>
              <a:t>Provide online appointment booking</a:t>
            </a:r>
            <a:r>
              <a:rPr lang="en-IN"/>
              <a:t> – Reduces manual scheduling and saves time. </a:t>
            </a:r>
            <a:endParaRPr/>
          </a:p>
          <a:p>
            <a:pPr indent="0" lvl="0" marL="0" rtl="0" algn="l">
              <a:spcBef>
                <a:spcPts val="400"/>
              </a:spcBef>
              <a:spcAft>
                <a:spcPts val="0"/>
              </a:spcAft>
              <a:buClr>
                <a:schemeClr val="dk1"/>
              </a:buClr>
              <a:buSzPct val="100000"/>
              <a:buNone/>
            </a:pPr>
            <a:r>
              <a:t/>
            </a:r>
            <a:endParaRPr/>
          </a:p>
          <a:p>
            <a:pPr indent="0" lvl="0" marL="0" rtl="0" algn="l">
              <a:spcBef>
                <a:spcPts val="400"/>
              </a:spcBef>
              <a:spcAft>
                <a:spcPts val="0"/>
              </a:spcAft>
              <a:buClr>
                <a:schemeClr val="dk1"/>
              </a:buClr>
              <a:buSzPct val="100000"/>
              <a:buNone/>
            </a:pPr>
            <a:r>
              <a:rPr lang="en-IN"/>
              <a:t>• </a:t>
            </a:r>
            <a:r>
              <a:rPr b="1" lang="en-IN"/>
              <a:t>Separate Patient and Doctor portals</a:t>
            </a:r>
            <a:r>
              <a:rPr lang="en-IN"/>
              <a:t> – Ensures efficient role-based management.</a:t>
            </a:r>
            <a:endParaRPr/>
          </a:p>
          <a:p>
            <a:pPr indent="0" lvl="0" marL="0" rtl="0" algn="l">
              <a:spcBef>
                <a:spcPts val="400"/>
              </a:spcBef>
              <a:spcAft>
                <a:spcPts val="0"/>
              </a:spcAft>
              <a:buClr>
                <a:schemeClr val="dk1"/>
              </a:buClr>
              <a:buSzPct val="100000"/>
              <a:buNone/>
            </a:pPr>
            <a:r>
              <a:rPr lang="en-IN"/>
              <a:t>• </a:t>
            </a:r>
            <a:r>
              <a:rPr b="1" lang="en-IN"/>
              <a:t>Enable doctor search and filtering</a:t>
            </a:r>
            <a:r>
              <a:rPr lang="en-IN"/>
              <a:t> – Helps patients find suitable doctors easily.</a:t>
            </a:r>
            <a:endParaRPr/>
          </a:p>
          <a:p>
            <a:pPr indent="0" lvl="0" marL="0" rtl="0" algn="l">
              <a:spcBef>
                <a:spcPts val="400"/>
              </a:spcBef>
              <a:spcAft>
                <a:spcPts val="0"/>
              </a:spcAft>
              <a:buClr>
                <a:schemeClr val="dk1"/>
              </a:buClr>
              <a:buSzPct val="100000"/>
              <a:buNone/>
            </a:pPr>
            <a:r>
              <a:t/>
            </a:r>
            <a:endParaRPr/>
          </a:p>
          <a:p>
            <a:pPr indent="0" lvl="0" marL="0" rtl="0" algn="l">
              <a:spcBef>
                <a:spcPts val="400"/>
              </a:spcBef>
              <a:spcAft>
                <a:spcPts val="0"/>
              </a:spcAft>
              <a:buClr>
                <a:schemeClr val="dk1"/>
              </a:buClr>
              <a:buSzPct val="100000"/>
              <a:buNone/>
            </a:pPr>
            <a:r>
              <a:rPr lang="en-IN"/>
              <a:t>• </a:t>
            </a:r>
            <a:r>
              <a:rPr b="1" lang="en-IN"/>
              <a:t>Manage appointments effectively</a:t>
            </a:r>
            <a:r>
              <a:rPr lang="en-IN"/>
              <a:t> – Allows booking, tracking, and cancellation.</a:t>
            </a:r>
            <a:endParaRPr/>
          </a:p>
          <a:p>
            <a:pPr indent="0" lvl="0" marL="0" rtl="0" algn="l">
              <a:spcBef>
                <a:spcPts val="400"/>
              </a:spcBef>
              <a:spcAft>
                <a:spcPts val="0"/>
              </a:spcAft>
              <a:buClr>
                <a:schemeClr val="dk1"/>
              </a:buClr>
              <a:buSzPct val="100000"/>
              <a:buNone/>
            </a:pPr>
            <a:r>
              <a:t/>
            </a:r>
            <a:endParaRPr/>
          </a:p>
          <a:p>
            <a:pPr indent="0" lvl="0" marL="0" rtl="0" algn="l">
              <a:spcBef>
                <a:spcPts val="400"/>
              </a:spcBef>
              <a:spcAft>
                <a:spcPts val="0"/>
              </a:spcAft>
              <a:buClr>
                <a:schemeClr val="dk1"/>
              </a:buClr>
              <a:buSzPct val="100000"/>
              <a:buNone/>
            </a:pPr>
            <a:r>
              <a:rPr lang="en-IN"/>
              <a:t>• </a:t>
            </a:r>
            <a:r>
              <a:rPr b="1" lang="en-IN"/>
              <a:t>Support doctor availability management</a:t>
            </a:r>
            <a:r>
              <a:rPr lang="en-IN"/>
              <a:t> – Helps doctors organize their schedules.</a:t>
            </a:r>
            <a:endParaRPr/>
          </a:p>
          <a:p>
            <a:pPr indent="0" lvl="0" marL="0" rtl="0" algn="l">
              <a:spcBef>
                <a:spcPts val="400"/>
              </a:spcBef>
              <a:spcAft>
                <a:spcPts val="0"/>
              </a:spcAft>
              <a:buClr>
                <a:schemeClr val="dk1"/>
              </a:buClr>
              <a:buSzPct val="100000"/>
              <a:buNone/>
            </a:pPr>
            <a:r>
              <a:t/>
            </a:r>
            <a:endParaRPr/>
          </a:p>
          <a:p>
            <a:pPr indent="0" lvl="0" marL="0" rtl="0" algn="l">
              <a:spcBef>
                <a:spcPts val="400"/>
              </a:spcBef>
              <a:spcAft>
                <a:spcPts val="0"/>
              </a:spcAft>
              <a:buClr>
                <a:schemeClr val="dk1"/>
              </a:buClr>
              <a:buSzPct val="100000"/>
              <a:buNone/>
            </a:pPr>
            <a:r>
              <a:rPr lang="en-IN"/>
              <a:t>• </a:t>
            </a:r>
            <a:r>
              <a:rPr b="1" lang="en-IN"/>
              <a:t>Develop a responsive React-based application</a:t>
            </a:r>
            <a:r>
              <a:rPr lang="en-IN"/>
              <a:t> – Demonstrates modern Front-End Engineering concepts.</a:t>
            </a:r>
            <a:endParaRPr/>
          </a:p>
          <a:p>
            <a:pPr indent="-215900" lvl="0" marL="342900" rtl="0" algn="l">
              <a:spcBef>
                <a:spcPts val="400"/>
              </a:spcBef>
              <a:spcAft>
                <a:spcPts val="0"/>
              </a:spcAft>
              <a:buClr>
                <a:schemeClr val="dk1"/>
              </a:buClr>
              <a:buSzPct val="100000"/>
              <a:buNone/>
            </a:pPr>
            <a:r>
              <a:t/>
            </a:r>
            <a:endParaRPr/>
          </a:p>
        </p:txBody>
      </p:sp>
      <p:pic>
        <p:nvPicPr>
          <p:cNvPr id="133" name="Google Shape;133;p19"/>
          <p:cNvPicPr preferRelativeResize="0"/>
          <p:nvPr/>
        </p:nvPicPr>
        <p:blipFill rotWithShape="1">
          <a:blip r:embed="rId3">
            <a:alphaModFix/>
          </a:blip>
          <a:srcRect b="0" l="0" r="0" t="0"/>
          <a:stretch/>
        </p:blipFill>
        <p:spPr>
          <a:xfrm>
            <a:off x="228600" y="228599"/>
            <a:ext cx="1295400" cy="6858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8" name="Shape 138"/>
        <p:cNvGrpSpPr/>
        <p:nvPr/>
      </p:nvGrpSpPr>
      <p:grpSpPr>
        <a:xfrm>
          <a:off x="0" y="0"/>
          <a:ext cx="0" cy="0"/>
          <a:chOff x="0" y="0"/>
          <a:chExt cx="0" cy="0"/>
        </a:xfrm>
      </p:grpSpPr>
      <p:pic>
        <p:nvPicPr>
          <p:cNvPr id="139" name="Google Shape;139;p20"/>
          <p:cNvPicPr preferRelativeResize="0"/>
          <p:nvPr/>
        </p:nvPicPr>
        <p:blipFill rotWithShape="1">
          <a:blip r:embed="rId4">
            <a:alphaModFix/>
          </a:blip>
          <a:srcRect b="0" l="5173" r="5173" t="0"/>
          <a:stretch/>
        </p:blipFill>
        <p:spPr>
          <a:xfrm>
            <a:off x="228600" y="228600"/>
            <a:ext cx="1295400" cy="685800"/>
          </a:xfrm>
          <a:prstGeom prst="rect">
            <a:avLst/>
          </a:prstGeom>
          <a:noFill/>
          <a:ln>
            <a:noFill/>
          </a:ln>
        </p:spPr>
      </p:pic>
      <p:sp>
        <p:nvSpPr>
          <p:cNvPr id="140" name="Google Shape;140;p20"/>
          <p:cNvSpPr txBox="1"/>
          <p:nvPr>
            <p:ph type="title"/>
          </p:nvPr>
        </p:nvSpPr>
        <p:spPr>
          <a:xfrm>
            <a:off x="1066800" y="274638"/>
            <a:ext cx="7848600" cy="1143000"/>
          </a:xfrm>
          <a:prstGeom prst="rect">
            <a:avLst/>
          </a:prstGeom>
          <a:solidFill>
            <a:srgbClr val="000000">
              <a:alpha val="0"/>
            </a:srgbClr>
          </a:solidFill>
          <a:ln>
            <a:noFill/>
          </a:ln>
        </p:spPr>
        <p:txBody>
          <a:bodyPr anchorCtr="0" anchor="ctr" bIns="45700" lIns="91400" spcFirstLastPara="1" rIns="91400" wrap="square" tIns="45700">
            <a:normAutofit/>
          </a:bodyPr>
          <a:lstStyle/>
          <a:p>
            <a:pPr indent="0" lvl="0" marL="0" rtl="0" algn="ctr">
              <a:spcBef>
                <a:spcPts val="0"/>
              </a:spcBef>
              <a:spcAft>
                <a:spcPts val="0"/>
              </a:spcAft>
              <a:buNone/>
            </a:pPr>
            <a:r>
              <a:rPr b="1" lang="en-IN" sz="2800">
                <a:solidFill>
                  <a:srgbClr val="0070C0"/>
                </a:solidFill>
                <a:latin typeface="Times New Roman"/>
                <a:ea typeface="Times New Roman"/>
                <a:cs typeface="Times New Roman"/>
                <a:sym typeface="Times New Roman"/>
              </a:rPr>
              <a:t>Course Outcomes (COs) Applied in the Project</a:t>
            </a:r>
            <a:endParaRPr b="1" sz="2800">
              <a:solidFill>
                <a:srgbClr val="0070C0"/>
              </a:solidFill>
              <a:latin typeface="Times New Roman"/>
              <a:ea typeface="Times New Roman"/>
              <a:cs typeface="Times New Roman"/>
              <a:sym typeface="Times New Roman"/>
            </a:endParaRPr>
          </a:p>
        </p:txBody>
      </p:sp>
      <p:sp>
        <p:nvSpPr>
          <p:cNvPr id="141" name="Google Shape;141;p20"/>
          <p:cNvSpPr txBox="1"/>
          <p:nvPr>
            <p:ph idx="1" type="body"/>
          </p:nvPr>
        </p:nvSpPr>
        <p:spPr>
          <a:xfrm>
            <a:off x="457200" y="1333500"/>
            <a:ext cx="8229600" cy="4953000"/>
          </a:xfrm>
          <a:prstGeom prst="rect">
            <a:avLst/>
          </a:prstGeom>
          <a:solidFill>
            <a:srgbClr val="000000">
              <a:alpha val="0"/>
            </a:srgbClr>
          </a:solidFill>
          <a:ln>
            <a:noFill/>
          </a:ln>
        </p:spPr>
        <p:txBody>
          <a:bodyPr anchorCtr="0" anchor="t" bIns="45700" lIns="91400" spcFirstLastPara="1" rIns="91400" wrap="square" tIns="45700">
            <a:normAutofit/>
          </a:bodyPr>
          <a:lstStyle/>
          <a:p>
            <a:pPr indent="0" lvl="0" marL="0" rtl="0" algn="l">
              <a:spcBef>
                <a:spcPts val="360"/>
              </a:spcBef>
              <a:spcAft>
                <a:spcPts val="0"/>
              </a:spcAft>
              <a:buNone/>
            </a:pPr>
            <a:r>
              <a:rPr b="1" lang="en-IN" sz="1203">
                <a:solidFill>
                  <a:srgbClr val="0070C0"/>
                </a:solidFill>
                <a:latin typeface="Calibri"/>
                <a:ea typeface="Calibri"/>
                <a:cs typeface="Calibri"/>
                <a:sym typeface="Calibri"/>
              </a:rPr>
              <a:t>CO1 – Front-End Engineering &amp; Framework Design</a:t>
            </a:r>
            <a:endParaRPr b="0" sz="1203">
              <a:solidFill>
                <a:srgbClr val="000000"/>
              </a:solidFill>
              <a:latin typeface="Calibri"/>
              <a:ea typeface="Calibri"/>
              <a:cs typeface="Calibri"/>
              <a:sym typeface="Calibri"/>
            </a:endParaRPr>
          </a:p>
          <a:p>
            <a:pPr indent="-304959" lvl="0" marL="457200" rtl="0" algn="l">
              <a:spcBef>
                <a:spcPts val="60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Used React’s component-based architecture and declarative UI.</a:t>
            </a:r>
            <a:endParaRPr b="0" sz="1203">
              <a:solidFill>
                <a:srgbClr val="000000"/>
              </a:solidFill>
              <a:latin typeface="Calibri"/>
              <a:ea typeface="Calibri"/>
              <a:cs typeface="Calibri"/>
              <a:sym typeface="Calibri"/>
            </a:endParaRPr>
          </a:p>
          <a:p>
            <a:pPr indent="-304959" lvl="0" marL="457200" rtl="0" algn="l">
              <a:spcBef>
                <a:spcPts val="36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Implemented reusable components and unidirectional data flow.</a:t>
            </a:r>
            <a:endParaRPr b="0" sz="1203">
              <a:solidFill>
                <a:srgbClr val="000000"/>
              </a:solidFill>
              <a:latin typeface="Calibri"/>
              <a:ea typeface="Calibri"/>
              <a:cs typeface="Calibri"/>
              <a:sym typeface="Calibri"/>
            </a:endParaRPr>
          </a:p>
          <a:p>
            <a:pPr indent="0" lvl="0" marL="0" rtl="0" algn="l">
              <a:spcBef>
                <a:spcPts val="900"/>
              </a:spcBef>
              <a:spcAft>
                <a:spcPts val="0"/>
              </a:spcAft>
              <a:buNone/>
            </a:pPr>
            <a:r>
              <a:rPr b="1" lang="en-IN" sz="1203">
                <a:solidFill>
                  <a:srgbClr val="0070C0"/>
                </a:solidFill>
                <a:latin typeface="Calibri"/>
                <a:ea typeface="Calibri"/>
                <a:cs typeface="Calibri"/>
                <a:sym typeface="Calibri"/>
              </a:rPr>
              <a:t>CO2 – JavaScript &amp; TypeScript Engineering</a:t>
            </a:r>
            <a:endParaRPr b="0" sz="1203">
              <a:solidFill>
                <a:srgbClr val="000000"/>
              </a:solidFill>
              <a:latin typeface="Calibri"/>
              <a:ea typeface="Calibri"/>
              <a:cs typeface="Calibri"/>
              <a:sym typeface="Calibri"/>
            </a:endParaRPr>
          </a:p>
          <a:p>
            <a:pPr indent="-304959" lvl="0" marL="457200" rtl="0" algn="l">
              <a:spcBef>
                <a:spcPts val="60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Applied ES6+ features such as modules, arrow functions, async/await, promises, and API handling.</a:t>
            </a:r>
            <a:endParaRPr b="0" sz="1203">
              <a:solidFill>
                <a:srgbClr val="000000"/>
              </a:solidFill>
              <a:latin typeface="Calibri"/>
              <a:ea typeface="Calibri"/>
              <a:cs typeface="Calibri"/>
              <a:sym typeface="Calibri"/>
            </a:endParaRPr>
          </a:p>
          <a:p>
            <a:pPr indent="-304959" lvl="0" marL="457200" rtl="0" algn="l">
              <a:spcBef>
                <a:spcPts val="36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Organized the project into modular and maintainable code.</a:t>
            </a:r>
            <a:endParaRPr b="0" sz="1203">
              <a:solidFill>
                <a:srgbClr val="000000"/>
              </a:solidFill>
              <a:latin typeface="Calibri"/>
              <a:ea typeface="Calibri"/>
              <a:cs typeface="Calibri"/>
              <a:sym typeface="Calibri"/>
            </a:endParaRPr>
          </a:p>
          <a:p>
            <a:pPr indent="0" lvl="0" marL="0" rtl="0" algn="l">
              <a:spcBef>
                <a:spcPts val="900"/>
              </a:spcBef>
              <a:spcAft>
                <a:spcPts val="0"/>
              </a:spcAft>
              <a:buNone/>
            </a:pPr>
            <a:r>
              <a:rPr b="1" lang="en-IN" sz="1203">
                <a:solidFill>
                  <a:srgbClr val="0070C0"/>
                </a:solidFill>
                <a:latin typeface="Calibri"/>
                <a:ea typeface="Calibri"/>
                <a:cs typeface="Calibri"/>
                <a:sym typeface="Calibri"/>
              </a:rPr>
              <a:t>CO3 – React Component Model</a:t>
            </a:r>
            <a:endParaRPr b="0" sz="1203">
              <a:solidFill>
                <a:srgbClr val="000000"/>
              </a:solidFill>
              <a:latin typeface="Calibri"/>
              <a:ea typeface="Calibri"/>
              <a:cs typeface="Calibri"/>
              <a:sym typeface="Calibri"/>
            </a:endParaRPr>
          </a:p>
          <a:p>
            <a:pPr indent="-304959" lvl="0" marL="457200" rtl="0" algn="l">
              <a:spcBef>
                <a:spcPts val="60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Built reusable components for Login, Doctor List, Appointment Booking, Dashboard, and Profile.</a:t>
            </a:r>
            <a:endParaRPr b="0" sz="1203">
              <a:solidFill>
                <a:srgbClr val="000000"/>
              </a:solidFill>
              <a:latin typeface="Calibri"/>
              <a:ea typeface="Calibri"/>
              <a:cs typeface="Calibri"/>
              <a:sym typeface="Calibri"/>
            </a:endParaRPr>
          </a:p>
          <a:p>
            <a:pPr indent="-304959" lvl="0" marL="457200" rtl="0" algn="l">
              <a:spcBef>
                <a:spcPts val="36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Used props, state, hooks, and component composition.</a:t>
            </a:r>
            <a:endParaRPr b="0" sz="1203">
              <a:solidFill>
                <a:srgbClr val="000000"/>
              </a:solidFill>
              <a:latin typeface="Calibri"/>
              <a:ea typeface="Calibri"/>
              <a:cs typeface="Calibri"/>
              <a:sym typeface="Calibri"/>
            </a:endParaRPr>
          </a:p>
          <a:p>
            <a:pPr indent="0" lvl="0" marL="0" rtl="0" algn="l">
              <a:spcBef>
                <a:spcPts val="900"/>
              </a:spcBef>
              <a:spcAft>
                <a:spcPts val="0"/>
              </a:spcAft>
              <a:buNone/>
            </a:pPr>
            <a:r>
              <a:rPr b="1" lang="en-IN" sz="1203">
                <a:solidFill>
                  <a:srgbClr val="0070C0"/>
                </a:solidFill>
                <a:latin typeface="Calibri"/>
                <a:ea typeface="Calibri"/>
                <a:cs typeface="Calibri"/>
                <a:sym typeface="Calibri"/>
              </a:rPr>
              <a:t>CO4 – State Management &amp; API Integration</a:t>
            </a:r>
            <a:endParaRPr b="0" sz="1203">
              <a:solidFill>
                <a:srgbClr val="000000"/>
              </a:solidFill>
              <a:latin typeface="Calibri"/>
              <a:ea typeface="Calibri"/>
              <a:cs typeface="Calibri"/>
              <a:sym typeface="Calibri"/>
            </a:endParaRPr>
          </a:p>
          <a:p>
            <a:pPr indent="-304959" lvl="0" marL="457200" rtl="0" algn="l">
              <a:spcBef>
                <a:spcPts val="60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Managed appointment data, user sessions, doctor availability, and booking status.</a:t>
            </a:r>
            <a:endParaRPr b="0" sz="1203">
              <a:solidFill>
                <a:srgbClr val="000000"/>
              </a:solidFill>
              <a:latin typeface="Calibri"/>
              <a:ea typeface="Calibri"/>
              <a:cs typeface="Calibri"/>
              <a:sym typeface="Calibri"/>
            </a:endParaRPr>
          </a:p>
          <a:p>
            <a:pPr indent="-304959" lvl="0" marL="457200" rtl="0" algn="l">
              <a:spcBef>
                <a:spcPts val="36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Integrated APIs and handled asynchronous operations using React Hooks.</a:t>
            </a:r>
            <a:endParaRPr b="0" sz="1203">
              <a:solidFill>
                <a:srgbClr val="000000"/>
              </a:solidFill>
              <a:latin typeface="Calibri"/>
              <a:ea typeface="Calibri"/>
              <a:cs typeface="Calibri"/>
              <a:sym typeface="Calibri"/>
            </a:endParaRPr>
          </a:p>
          <a:p>
            <a:pPr indent="0" lvl="0" marL="0" rtl="0" algn="l">
              <a:spcBef>
                <a:spcPts val="900"/>
              </a:spcBef>
              <a:spcAft>
                <a:spcPts val="0"/>
              </a:spcAft>
              <a:buNone/>
            </a:pPr>
            <a:r>
              <a:rPr b="1" lang="en-IN" sz="1203">
                <a:solidFill>
                  <a:srgbClr val="0070C0"/>
                </a:solidFill>
                <a:latin typeface="Calibri"/>
                <a:ea typeface="Calibri"/>
                <a:cs typeface="Calibri"/>
                <a:sym typeface="Calibri"/>
              </a:rPr>
              <a:t>CO5 – Routing, Forms &amp; Performance</a:t>
            </a:r>
            <a:endParaRPr b="0" sz="1203">
              <a:solidFill>
                <a:srgbClr val="000000"/>
              </a:solidFill>
              <a:latin typeface="Calibri"/>
              <a:ea typeface="Calibri"/>
              <a:cs typeface="Calibri"/>
              <a:sym typeface="Calibri"/>
            </a:endParaRPr>
          </a:p>
          <a:p>
            <a:pPr indent="-304959" lvl="0" marL="457200" rtl="0" algn="l">
              <a:spcBef>
                <a:spcPts val="60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Implemented React Router for navigation.</a:t>
            </a:r>
            <a:endParaRPr b="0" sz="1203">
              <a:solidFill>
                <a:srgbClr val="000000"/>
              </a:solidFill>
              <a:latin typeface="Calibri"/>
              <a:ea typeface="Calibri"/>
              <a:cs typeface="Calibri"/>
              <a:sym typeface="Calibri"/>
            </a:endParaRPr>
          </a:p>
          <a:p>
            <a:pPr indent="-304959" lvl="0" marL="457200" rtl="0" algn="l">
              <a:spcBef>
                <a:spcPts val="36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Built validated login and appointment forms.</a:t>
            </a:r>
            <a:endParaRPr b="0" sz="1203">
              <a:solidFill>
                <a:srgbClr val="000000"/>
              </a:solidFill>
              <a:latin typeface="Calibri"/>
              <a:ea typeface="Calibri"/>
              <a:cs typeface="Calibri"/>
              <a:sym typeface="Calibri"/>
            </a:endParaRPr>
          </a:p>
          <a:p>
            <a:pPr indent="-304959" lvl="0" marL="457200" rtl="0" algn="l">
              <a:spcBef>
                <a:spcPts val="36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Developed a responsive and user-friendly interface.</a:t>
            </a:r>
            <a:endParaRPr b="0" sz="1203">
              <a:solidFill>
                <a:srgbClr val="000000"/>
              </a:solidFill>
              <a:latin typeface="Calibri"/>
              <a:ea typeface="Calibri"/>
              <a:cs typeface="Calibri"/>
              <a:sym typeface="Calibri"/>
            </a:endParaRPr>
          </a:p>
          <a:p>
            <a:pPr indent="0" lvl="0" marL="0" rtl="0" algn="l">
              <a:spcBef>
                <a:spcPts val="900"/>
              </a:spcBef>
              <a:spcAft>
                <a:spcPts val="0"/>
              </a:spcAft>
              <a:buNone/>
            </a:pPr>
            <a:r>
              <a:rPr b="1" lang="en-IN" sz="1203">
                <a:solidFill>
                  <a:srgbClr val="0070C0"/>
                </a:solidFill>
                <a:latin typeface="Calibri"/>
                <a:ea typeface="Calibri"/>
                <a:cs typeface="Calibri"/>
                <a:sym typeface="Calibri"/>
              </a:rPr>
              <a:t>CO6 – Build Systems &amp; Deployment</a:t>
            </a:r>
            <a:endParaRPr b="0" sz="1203">
              <a:solidFill>
                <a:srgbClr val="000000"/>
              </a:solidFill>
              <a:latin typeface="Calibri"/>
              <a:ea typeface="Calibri"/>
              <a:cs typeface="Calibri"/>
              <a:sym typeface="Calibri"/>
            </a:endParaRPr>
          </a:p>
          <a:p>
            <a:pPr indent="-304959" lvl="0" marL="457200" rtl="0" algn="l">
              <a:spcBef>
                <a:spcPts val="60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Developed the project using React with npm tooling.</a:t>
            </a:r>
            <a:endParaRPr b="0" sz="1203">
              <a:solidFill>
                <a:srgbClr val="000000"/>
              </a:solidFill>
              <a:latin typeface="Calibri"/>
              <a:ea typeface="Calibri"/>
              <a:cs typeface="Calibri"/>
              <a:sym typeface="Calibri"/>
            </a:endParaRPr>
          </a:p>
          <a:p>
            <a:pPr indent="-304959" lvl="0" marL="457200" rtl="0" algn="l">
              <a:spcBef>
                <a:spcPts val="360"/>
              </a:spcBef>
              <a:spcAft>
                <a:spcPts val="0"/>
              </a:spcAft>
              <a:buClr>
                <a:srgbClr val="000000"/>
              </a:buClr>
              <a:buSzPts val="1203"/>
              <a:buFont typeface="Calibri"/>
              <a:buChar char="●"/>
            </a:pPr>
            <a:r>
              <a:rPr b="0" lang="en-IN" sz="1203">
                <a:solidFill>
                  <a:srgbClr val="000000"/>
                </a:solidFill>
                <a:latin typeface="Calibri"/>
                <a:ea typeface="Calibri"/>
                <a:cs typeface="Calibri"/>
                <a:sym typeface="Calibri"/>
              </a:rPr>
              <a:t>Followed modern front-end practices and prepared the application for deployment and scalability.</a:t>
            </a:r>
            <a:endParaRPr b="0" sz="1203">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1"/>
          <p:cNvSpPr txBox="1"/>
          <p:nvPr>
            <p:ph type="title"/>
          </p:nvPr>
        </p:nvSpPr>
        <p:spPr>
          <a:xfrm>
            <a:off x="1143000" y="-212726"/>
            <a:ext cx="7467600" cy="9445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2800"/>
              <a:buFont typeface="Times New Roman"/>
              <a:buNone/>
            </a:pPr>
            <a:r>
              <a:rPr b="1" lang="en-IN" sz="2800">
                <a:solidFill>
                  <a:srgbClr val="0070C0"/>
                </a:solidFill>
                <a:latin typeface="Times New Roman"/>
                <a:ea typeface="Times New Roman"/>
                <a:cs typeface="Times New Roman"/>
                <a:sym typeface="Times New Roman"/>
              </a:rPr>
              <a:t>Modules [Frontend web pages]</a:t>
            </a:r>
            <a:endParaRPr/>
          </a:p>
        </p:txBody>
      </p:sp>
      <p:pic>
        <p:nvPicPr>
          <p:cNvPr id="147" name="Google Shape;147;p21"/>
          <p:cNvPicPr preferRelativeResize="0"/>
          <p:nvPr>
            <p:ph idx="1" type="body"/>
          </p:nvPr>
        </p:nvPicPr>
        <p:blipFill rotWithShape="1">
          <a:blip r:embed="rId3">
            <a:alphaModFix/>
          </a:blip>
          <a:srcRect b="0" l="0" r="0" t="0"/>
          <a:stretch/>
        </p:blipFill>
        <p:spPr>
          <a:xfrm>
            <a:off x="152400" y="609600"/>
            <a:ext cx="8915400" cy="2819400"/>
          </a:xfrm>
          <a:prstGeom prst="rect">
            <a:avLst/>
          </a:prstGeom>
          <a:noFill/>
          <a:ln>
            <a:noFill/>
          </a:ln>
        </p:spPr>
      </p:pic>
      <p:pic>
        <p:nvPicPr>
          <p:cNvPr id="148" name="Google Shape;148;p21"/>
          <p:cNvPicPr preferRelativeResize="0"/>
          <p:nvPr/>
        </p:nvPicPr>
        <p:blipFill rotWithShape="1">
          <a:blip r:embed="rId4">
            <a:alphaModFix/>
          </a:blip>
          <a:srcRect b="0" l="0" r="0" t="0"/>
          <a:stretch/>
        </p:blipFill>
        <p:spPr>
          <a:xfrm>
            <a:off x="186813" y="29497"/>
            <a:ext cx="1295400" cy="639761"/>
          </a:xfrm>
          <a:prstGeom prst="rect">
            <a:avLst/>
          </a:prstGeom>
          <a:noFill/>
          <a:ln>
            <a:noFill/>
          </a:ln>
        </p:spPr>
      </p:pic>
      <p:pic>
        <p:nvPicPr>
          <p:cNvPr id="149" name="Google Shape;149;p21"/>
          <p:cNvPicPr preferRelativeResize="0"/>
          <p:nvPr/>
        </p:nvPicPr>
        <p:blipFill rotWithShape="1">
          <a:blip r:embed="rId5">
            <a:alphaModFix/>
          </a:blip>
          <a:srcRect b="0" l="0" r="0" t="0"/>
          <a:stretch/>
        </p:blipFill>
        <p:spPr>
          <a:xfrm>
            <a:off x="0" y="3810000"/>
            <a:ext cx="9144000" cy="315685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2"/>
          <p:cNvSpPr txBox="1"/>
          <p:nvPr>
            <p:ph type="title"/>
          </p:nvPr>
        </p:nvSpPr>
        <p:spPr>
          <a:xfrm>
            <a:off x="1524000" y="274638"/>
            <a:ext cx="7162800" cy="86836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0070C0"/>
              </a:buClr>
              <a:buSzPct val="100000"/>
              <a:buFont typeface="Times New Roman"/>
              <a:buNone/>
            </a:pPr>
            <a:r>
              <a:rPr b="1" lang="en-IN" sz="3100">
                <a:solidFill>
                  <a:srgbClr val="0070C0"/>
                </a:solidFill>
                <a:latin typeface="Times New Roman"/>
                <a:ea typeface="Times New Roman"/>
                <a:cs typeface="Times New Roman"/>
                <a:sym typeface="Times New Roman"/>
              </a:rPr>
              <a:t>Expected Outcomes of the Proposed Work</a:t>
            </a:r>
            <a:br>
              <a:rPr b="1" lang="en-IN">
                <a:solidFill>
                  <a:srgbClr val="0070C0"/>
                </a:solidFill>
                <a:latin typeface="Times New Roman"/>
                <a:ea typeface="Times New Roman"/>
                <a:cs typeface="Times New Roman"/>
                <a:sym typeface="Times New Roman"/>
              </a:rPr>
            </a:br>
            <a:endParaRPr b="1">
              <a:solidFill>
                <a:srgbClr val="0070C0"/>
              </a:solidFill>
              <a:latin typeface="Times New Roman"/>
              <a:ea typeface="Times New Roman"/>
              <a:cs typeface="Times New Roman"/>
              <a:sym typeface="Times New Roman"/>
            </a:endParaRPr>
          </a:p>
        </p:txBody>
      </p:sp>
      <p:sp>
        <p:nvSpPr>
          <p:cNvPr id="155" name="Google Shape;155;p22"/>
          <p:cNvSpPr txBox="1"/>
          <p:nvPr>
            <p:ph idx="1" type="body"/>
          </p:nvPr>
        </p:nvSpPr>
        <p:spPr>
          <a:xfrm>
            <a:off x="457200" y="1143001"/>
            <a:ext cx="8229600" cy="4983164"/>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Clr>
                <a:schemeClr val="dk1"/>
              </a:buClr>
              <a:buSzPct val="100000"/>
              <a:buNone/>
            </a:pPr>
            <a:r>
              <a:rPr lang="en-IN"/>
              <a:t>• Provide a simple and efficient online doctor appointment booking platform.</a:t>
            </a:r>
            <a:endParaRPr/>
          </a:p>
          <a:p>
            <a:pPr indent="0" lvl="0" marL="0" rtl="0" algn="l">
              <a:spcBef>
                <a:spcPts val="352"/>
              </a:spcBef>
              <a:spcAft>
                <a:spcPts val="0"/>
              </a:spcAft>
              <a:buClr>
                <a:schemeClr val="dk1"/>
              </a:buClr>
              <a:buSzPct val="100000"/>
              <a:buNone/>
            </a:pPr>
            <a:r>
              <a:t/>
            </a:r>
            <a:endParaRPr/>
          </a:p>
          <a:p>
            <a:pPr indent="0" lvl="0" marL="0" rtl="0" algn="l">
              <a:spcBef>
                <a:spcPts val="352"/>
              </a:spcBef>
              <a:spcAft>
                <a:spcPts val="0"/>
              </a:spcAft>
              <a:buClr>
                <a:schemeClr val="dk1"/>
              </a:buClr>
              <a:buSzPct val="100000"/>
              <a:buNone/>
            </a:pPr>
            <a:r>
              <a:rPr lang="en-IN"/>
              <a:t>• Enable patients to search doctors and book appointments easily.</a:t>
            </a:r>
            <a:endParaRPr/>
          </a:p>
          <a:p>
            <a:pPr indent="0" lvl="0" marL="0" rtl="0" algn="l">
              <a:spcBef>
                <a:spcPts val="352"/>
              </a:spcBef>
              <a:spcAft>
                <a:spcPts val="0"/>
              </a:spcAft>
              <a:buClr>
                <a:schemeClr val="dk1"/>
              </a:buClr>
              <a:buSzPct val="100000"/>
              <a:buNone/>
            </a:pPr>
            <a:r>
              <a:t/>
            </a:r>
            <a:endParaRPr/>
          </a:p>
          <a:p>
            <a:pPr indent="0" lvl="0" marL="0" rtl="0" algn="l">
              <a:spcBef>
                <a:spcPts val="352"/>
              </a:spcBef>
              <a:spcAft>
                <a:spcPts val="0"/>
              </a:spcAft>
              <a:buClr>
                <a:schemeClr val="dk1"/>
              </a:buClr>
              <a:buSzPct val="100000"/>
              <a:buNone/>
            </a:pPr>
            <a:r>
              <a:rPr lang="en-IN"/>
              <a:t>• Reduce waiting time and manual appointment scheduling.</a:t>
            </a:r>
            <a:endParaRPr/>
          </a:p>
          <a:p>
            <a:pPr indent="0" lvl="0" marL="0" rtl="0" algn="l">
              <a:spcBef>
                <a:spcPts val="352"/>
              </a:spcBef>
              <a:spcAft>
                <a:spcPts val="0"/>
              </a:spcAft>
              <a:buClr>
                <a:schemeClr val="dk1"/>
              </a:buClr>
              <a:buSzPct val="100000"/>
              <a:buNone/>
            </a:pPr>
            <a:r>
              <a:t/>
            </a:r>
            <a:endParaRPr/>
          </a:p>
          <a:p>
            <a:pPr indent="0" lvl="0" marL="0" rtl="0" algn="l">
              <a:spcBef>
                <a:spcPts val="352"/>
              </a:spcBef>
              <a:spcAft>
                <a:spcPts val="0"/>
              </a:spcAft>
              <a:buClr>
                <a:schemeClr val="dk1"/>
              </a:buClr>
              <a:buSzPct val="100000"/>
              <a:buNone/>
            </a:pPr>
            <a:r>
              <a:rPr lang="en-IN"/>
              <a:t>• Improve appointment management through separate Patient and Doctor portals.</a:t>
            </a:r>
            <a:endParaRPr/>
          </a:p>
          <a:p>
            <a:pPr indent="0" lvl="0" marL="0" rtl="0" algn="l">
              <a:spcBef>
                <a:spcPts val="352"/>
              </a:spcBef>
              <a:spcAft>
                <a:spcPts val="0"/>
              </a:spcAft>
              <a:buClr>
                <a:schemeClr val="dk1"/>
              </a:buClr>
              <a:buSzPct val="100000"/>
              <a:buNone/>
            </a:pPr>
            <a:r>
              <a:t/>
            </a:r>
            <a:endParaRPr/>
          </a:p>
          <a:p>
            <a:pPr indent="0" lvl="0" marL="0" rtl="0" algn="l">
              <a:spcBef>
                <a:spcPts val="352"/>
              </a:spcBef>
              <a:spcAft>
                <a:spcPts val="0"/>
              </a:spcAft>
              <a:buClr>
                <a:schemeClr val="dk1"/>
              </a:buClr>
              <a:buSzPct val="100000"/>
              <a:buNone/>
            </a:pPr>
            <a:r>
              <a:rPr lang="en-IN"/>
              <a:t>• Allow doctors to manage availability and appointment requests effectively.</a:t>
            </a:r>
            <a:endParaRPr/>
          </a:p>
          <a:p>
            <a:pPr indent="0" lvl="0" marL="0" rtl="0" algn="l">
              <a:spcBef>
                <a:spcPts val="352"/>
              </a:spcBef>
              <a:spcAft>
                <a:spcPts val="0"/>
              </a:spcAft>
              <a:buClr>
                <a:schemeClr val="dk1"/>
              </a:buClr>
              <a:buSzPct val="100000"/>
              <a:buNone/>
            </a:pPr>
            <a:r>
              <a:t/>
            </a:r>
            <a:endParaRPr/>
          </a:p>
          <a:p>
            <a:pPr indent="0" lvl="0" marL="0" rtl="0" algn="l">
              <a:spcBef>
                <a:spcPts val="352"/>
              </a:spcBef>
              <a:spcAft>
                <a:spcPts val="0"/>
              </a:spcAft>
              <a:buClr>
                <a:schemeClr val="dk1"/>
              </a:buClr>
              <a:buSzPct val="100000"/>
              <a:buNone/>
            </a:pPr>
            <a:r>
              <a:rPr lang="en-IN"/>
              <a:t>• Provide appointment status tracking and profile management features.</a:t>
            </a:r>
            <a:endParaRPr/>
          </a:p>
          <a:p>
            <a:pPr indent="0" lvl="0" marL="0" rtl="0" algn="l">
              <a:spcBef>
                <a:spcPts val="352"/>
              </a:spcBef>
              <a:spcAft>
                <a:spcPts val="0"/>
              </a:spcAft>
              <a:buClr>
                <a:schemeClr val="dk1"/>
              </a:buClr>
              <a:buSzPct val="100000"/>
              <a:buNone/>
            </a:pPr>
            <a:r>
              <a:t/>
            </a:r>
            <a:endParaRPr/>
          </a:p>
          <a:p>
            <a:pPr indent="0" lvl="0" marL="0" rtl="0" algn="l">
              <a:spcBef>
                <a:spcPts val="352"/>
              </a:spcBef>
              <a:spcAft>
                <a:spcPts val="0"/>
              </a:spcAft>
              <a:buClr>
                <a:schemeClr val="dk1"/>
              </a:buClr>
              <a:buSzPct val="100000"/>
              <a:buNone/>
            </a:pPr>
            <a:r>
              <a:rPr lang="en-IN"/>
              <a:t>• Deliver a responsive, user-friendly, and accessible healthcare application.</a:t>
            </a:r>
            <a:endParaRPr/>
          </a:p>
          <a:p>
            <a:pPr indent="0" lvl="0" marL="0" rtl="0" algn="l">
              <a:spcBef>
                <a:spcPts val="352"/>
              </a:spcBef>
              <a:spcAft>
                <a:spcPts val="0"/>
              </a:spcAft>
              <a:buClr>
                <a:schemeClr val="dk1"/>
              </a:buClr>
              <a:buSzPct val="100000"/>
              <a:buNone/>
            </a:pPr>
            <a:r>
              <a:t/>
            </a:r>
            <a:endParaRPr/>
          </a:p>
          <a:p>
            <a:pPr indent="0" lvl="0" marL="0" rtl="0" algn="l">
              <a:spcBef>
                <a:spcPts val="352"/>
              </a:spcBef>
              <a:spcAft>
                <a:spcPts val="0"/>
              </a:spcAft>
              <a:buClr>
                <a:schemeClr val="dk1"/>
              </a:buClr>
              <a:buSzPct val="100000"/>
              <a:buNone/>
            </a:pPr>
            <a:r>
              <a:rPr lang="en-IN"/>
              <a:t>• Demonstrate practical implementation of Front-End Engineering concepts using React.js.</a:t>
            </a:r>
            <a:endParaRPr/>
          </a:p>
          <a:p>
            <a:pPr indent="-231140" lvl="0" marL="342900" rtl="0" algn="l">
              <a:spcBef>
                <a:spcPts val="352"/>
              </a:spcBef>
              <a:spcAft>
                <a:spcPts val="0"/>
              </a:spcAft>
              <a:buClr>
                <a:schemeClr val="dk1"/>
              </a:buClr>
              <a:buSzPct val="100000"/>
              <a:buNone/>
            </a:pPr>
            <a:r>
              <a:t/>
            </a:r>
            <a:endParaRPr/>
          </a:p>
        </p:txBody>
      </p:sp>
      <p:pic>
        <p:nvPicPr>
          <p:cNvPr id="156" name="Google Shape;156;p22"/>
          <p:cNvPicPr preferRelativeResize="0"/>
          <p:nvPr/>
        </p:nvPicPr>
        <p:blipFill rotWithShape="1">
          <a:blip r:embed="rId3">
            <a:alphaModFix/>
          </a:blip>
          <a:srcRect b="0" l="0" r="0" t="0"/>
          <a:stretch/>
        </p:blipFill>
        <p:spPr>
          <a:xfrm>
            <a:off x="228600" y="92075"/>
            <a:ext cx="1295400" cy="746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990600" y="228600"/>
            <a:ext cx="7696200" cy="685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2800"/>
              <a:buFont typeface="Times New Roman"/>
              <a:buNone/>
            </a:pPr>
            <a:r>
              <a:rPr b="1" lang="en-IN" sz="2800">
                <a:solidFill>
                  <a:srgbClr val="0070C0"/>
                </a:solidFill>
                <a:latin typeface="Times New Roman"/>
                <a:ea typeface="Times New Roman"/>
                <a:cs typeface="Times New Roman"/>
                <a:sym typeface="Times New Roman"/>
              </a:rPr>
              <a:t>Conclusion and Future Scope</a:t>
            </a:r>
            <a:endParaRPr b="1" sz="2800">
              <a:solidFill>
                <a:srgbClr val="0070C0"/>
              </a:solidFill>
              <a:latin typeface="Times New Roman"/>
              <a:ea typeface="Times New Roman"/>
              <a:cs typeface="Times New Roman"/>
              <a:sym typeface="Times New Roman"/>
            </a:endParaRPr>
          </a:p>
        </p:txBody>
      </p:sp>
      <p:sp>
        <p:nvSpPr>
          <p:cNvPr id="162" name="Google Shape;162;p23"/>
          <p:cNvSpPr txBox="1"/>
          <p:nvPr>
            <p:ph idx="1" type="body"/>
          </p:nvPr>
        </p:nvSpPr>
        <p:spPr>
          <a:xfrm>
            <a:off x="457200" y="1050925"/>
            <a:ext cx="8229600" cy="5075239"/>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Clr>
                <a:schemeClr val="dk1"/>
              </a:buClr>
              <a:buSzPct val="100000"/>
              <a:buNone/>
            </a:pPr>
            <a:r>
              <a:rPr b="1" lang="en-IN"/>
              <a:t>Conclusion</a:t>
            </a:r>
            <a:endParaRPr/>
          </a:p>
          <a:p>
            <a:pPr indent="-342900" lvl="0" marL="342900" rtl="0" algn="l">
              <a:spcBef>
                <a:spcPts val="496"/>
              </a:spcBef>
              <a:spcAft>
                <a:spcPts val="0"/>
              </a:spcAft>
              <a:buClr>
                <a:schemeClr val="dk1"/>
              </a:buClr>
              <a:buSzPct val="100000"/>
              <a:buChar char="•"/>
            </a:pPr>
            <a:r>
              <a:rPr lang="en-IN"/>
              <a:t>Simplifies doctor appointment booking and management. </a:t>
            </a:r>
            <a:endParaRPr/>
          </a:p>
          <a:p>
            <a:pPr indent="-342900" lvl="0" marL="342900" rtl="0" algn="l">
              <a:spcBef>
                <a:spcPts val="496"/>
              </a:spcBef>
              <a:spcAft>
                <a:spcPts val="0"/>
              </a:spcAft>
              <a:buClr>
                <a:schemeClr val="dk1"/>
              </a:buClr>
              <a:buSzPct val="100000"/>
              <a:buChar char="•"/>
            </a:pPr>
            <a:r>
              <a:rPr lang="en-IN"/>
              <a:t>Improves communication between patients and doctors. </a:t>
            </a:r>
            <a:endParaRPr/>
          </a:p>
          <a:p>
            <a:pPr indent="-342900" lvl="0" marL="342900" rtl="0" algn="l">
              <a:spcBef>
                <a:spcPts val="496"/>
              </a:spcBef>
              <a:spcAft>
                <a:spcPts val="0"/>
              </a:spcAft>
              <a:buClr>
                <a:schemeClr val="dk1"/>
              </a:buClr>
              <a:buSzPct val="100000"/>
              <a:buChar char="•"/>
            </a:pPr>
            <a:r>
              <a:rPr lang="en-IN"/>
              <a:t>Provides a user-friendly React-based healthcare platform. </a:t>
            </a:r>
            <a:endParaRPr/>
          </a:p>
          <a:p>
            <a:pPr indent="-185420" lvl="0" marL="342900" rtl="0" algn="l">
              <a:spcBef>
                <a:spcPts val="496"/>
              </a:spcBef>
              <a:spcAft>
                <a:spcPts val="0"/>
              </a:spcAft>
              <a:buClr>
                <a:schemeClr val="dk1"/>
              </a:buClr>
              <a:buSzPct val="100000"/>
              <a:buNone/>
            </a:pPr>
            <a:r>
              <a:t/>
            </a:r>
            <a:endParaRPr/>
          </a:p>
          <a:p>
            <a:pPr indent="0" lvl="0" marL="0" rtl="0" algn="l">
              <a:spcBef>
                <a:spcPts val="496"/>
              </a:spcBef>
              <a:spcAft>
                <a:spcPts val="0"/>
              </a:spcAft>
              <a:buClr>
                <a:schemeClr val="dk1"/>
              </a:buClr>
              <a:buSzPct val="100000"/>
              <a:buNone/>
            </a:pPr>
            <a:r>
              <a:rPr b="1" lang="en-IN"/>
              <a:t>Future Scope</a:t>
            </a:r>
            <a:endParaRPr/>
          </a:p>
          <a:p>
            <a:pPr indent="-342900" lvl="0" marL="342900" rtl="0" algn="l">
              <a:spcBef>
                <a:spcPts val="496"/>
              </a:spcBef>
              <a:spcAft>
                <a:spcPts val="0"/>
              </a:spcAft>
              <a:buClr>
                <a:schemeClr val="dk1"/>
              </a:buClr>
              <a:buSzPct val="100000"/>
              <a:buChar char="•"/>
            </a:pPr>
            <a:r>
              <a:rPr lang="en-IN"/>
              <a:t>Database integration </a:t>
            </a:r>
            <a:endParaRPr/>
          </a:p>
          <a:p>
            <a:pPr indent="-342900" lvl="0" marL="342900" rtl="0" algn="l">
              <a:spcBef>
                <a:spcPts val="496"/>
              </a:spcBef>
              <a:spcAft>
                <a:spcPts val="0"/>
              </a:spcAft>
              <a:buClr>
                <a:schemeClr val="dk1"/>
              </a:buClr>
              <a:buSzPct val="100000"/>
              <a:buChar char="•"/>
            </a:pPr>
            <a:r>
              <a:rPr lang="en-IN"/>
              <a:t>Online payments </a:t>
            </a:r>
            <a:endParaRPr/>
          </a:p>
          <a:p>
            <a:pPr indent="-342900" lvl="0" marL="342900" rtl="0" algn="l">
              <a:spcBef>
                <a:spcPts val="496"/>
              </a:spcBef>
              <a:spcAft>
                <a:spcPts val="0"/>
              </a:spcAft>
              <a:buClr>
                <a:schemeClr val="dk1"/>
              </a:buClr>
              <a:buSzPct val="100000"/>
              <a:buChar char="•"/>
            </a:pPr>
            <a:r>
              <a:rPr lang="en-IN"/>
              <a:t>Email/SMS notifications </a:t>
            </a:r>
            <a:endParaRPr/>
          </a:p>
          <a:p>
            <a:pPr indent="-342900" lvl="0" marL="342900" rtl="0" algn="l">
              <a:spcBef>
                <a:spcPts val="496"/>
              </a:spcBef>
              <a:spcAft>
                <a:spcPts val="0"/>
              </a:spcAft>
              <a:buClr>
                <a:schemeClr val="dk1"/>
              </a:buClr>
              <a:buSzPct val="100000"/>
              <a:buChar char="•"/>
            </a:pPr>
            <a:r>
              <a:rPr lang="en-IN"/>
              <a:t>Video consultations </a:t>
            </a:r>
            <a:endParaRPr/>
          </a:p>
          <a:p>
            <a:pPr indent="-342900" lvl="0" marL="342900" rtl="0" algn="l">
              <a:spcBef>
                <a:spcPts val="496"/>
              </a:spcBef>
              <a:spcAft>
                <a:spcPts val="0"/>
              </a:spcAft>
              <a:buClr>
                <a:schemeClr val="dk1"/>
              </a:buClr>
              <a:buSzPct val="100000"/>
              <a:buChar char="•"/>
            </a:pPr>
            <a:r>
              <a:rPr lang="en-IN"/>
              <a:t>AI-based recommendations</a:t>
            </a:r>
            <a:endParaRPr/>
          </a:p>
          <a:p>
            <a:pPr indent="-185420" lvl="0" marL="342900" rtl="0" algn="l">
              <a:spcBef>
                <a:spcPts val="496"/>
              </a:spcBef>
              <a:spcAft>
                <a:spcPts val="0"/>
              </a:spcAft>
              <a:buClr>
                <a:schemeClr val="dk1"/>
              </a:buClr>
              <a:buSzPct val="100000"/>
              <a:buNone/>
            </a:pPr>
            <a:r>
              <a:t/>
            </a:r>
            <a:endParaRPr/>
          </a:p>
        </p:txBody>
      </p:sp>
      <p:pic>
        <p:nvPicPr>
          <p:cNvPr id="163" name="Google Shape;163;p23"/>
          <p:cNvPicPr preferRelativeResize="0"/>
          <p:nvPr/>
        </p:nvPicPr>
        <p:blipFill rotWithShape="1">
          <a:blip r:embed="rId3">
            <a:alphaModFix/>
          </a:blip>
          <a:srcRect b="0" l="0" r="0" t="0"/>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70C0"/>
              </a:buClr>
              <a:buSzPts val="2800"/>
              <a:buFont typeface="Times New Roman"/>
              <a:buNone/>
            </a:pPr>
            <a:r>
              <a:rPr b="1" lang="en-IN" sz="2800">
                <a:solidFill>
                  <a:srgbClr val="0070C0"/>
                </a:solidFill>
                <a:latin typeface="Times New Roman"/>
                <a:ea typeface="Times New Roman"/>
                <a:cs typeface="Times New Roman"/>
                <a:sym typeface="Times New Roman"/>
              </a:rPr>
              <a:t>References </a:t>
            </a:r>
            <a:endParaRPr/>
          </a:p>
        </p:txBody>
      </p:sp>
      <p:sp>
        <p:nvSpPr>
          <p:cNvPr id="169" name="Google Shape;169;p24"/>
          <p:cNvSpPr txBox="1"/>
          <p:nvPr>
            <p:ph idx="1" type="body"/>
          </p:nvPr>
        </p:nvSpPr>
        <p:spPr>
          <a:xfrm>
            <a:off x="457200" y="1600201"/>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800"/>
              <a:buNone/>
            </a:pPr>
            <a:r>
              <a:rPr lang="en-IN" sz="2800"/>
              <a:t>• React.js Documentation</a:t>
            </a:r>
            <a:endParaRPr/>
          </a:p>
          <a:p>
            <a:pPr indent="0" lvl="0" marL="0" rtl="0" algn="l">
              <a:spcBef>
                <a:spcPts val="560"/>
              </a:spcBef>
              <a:spcAft>
                <a:spcPts val="0"/>
              </a:spcAft>
              <a:buClr>
                <a:schemeClr val="dk1"/>
              </a:buClr>
              <a:buSzPts val="2800"/>
              <a:buNone/>
            </a:pPr>
            <a:r>
              <a:rPr lang="en-IN" sz="2800"/>
              <a:t>• React Router Documentation</a:t>
            </a:r>
            <a:endParaRPr/>
          </a:p>
          <a:p>
            <a:pPr indent="0" lvl="0" marL="0" rtl="0" algn="l">
              <a:spcBef>
                <a:spcPts val="560"/>
              </a:spcBef>
              <a:spcAft>
                <a:spcPts val="0"/>
              </a:spcAft>
              <a:buClr>
                <a:schemeClr val="dk1"/>
              </a:buClr>
              <a:buSzPts val="2800"/>
              <a:buNone/>
            </a:pPr>
            <a:r>
              <a:rPr lang="en-IN" sz="2800"/>
              <a:t>• MDN Web Docs</a:t>
            </a:r>
            <a:endParaRPr/>
          </a:p>
          <a:p>
            <a:pPr indent="0" lvl="0" marL="0" rtl="0" algn="l">
              <a:spcBef>
                <a:spcPts val="560"/>
              </a:spcBef>
              <a:spcAft>
                <a:spcPts val="0"/>
              </a:spcAft>
              <a:buClr>
                <a:schemeClr val="dk1"/>
              </a:buClr>
              <a:buSzPts val="2800"/>
              <a:buNone/>
            </a:pPr>
            <a:r>
              <a:rPr lang="en-IN" sz="2800"/>
              <a:t>• Tailwind CSS Documentation</a:t>
            </a:r>
            <a:endParaRPr/>
          </a:p>
          <a:p>
            <a:pPr indent="0" lvl="0" marL="0" rtl="0" algn="l">
              <a:spcBef>
                <a:spcPts val="560"/>
              </a:spcBef>
              <a:spcAft>
                <a:spcPts val="0"/>
              </a:spcAft>
              <a:buClr>
                <a:schemeClr val="dk1"/>
              </a:buClr>
              <a:buSzPts val="2800"/>
              <a:buNone/>
            </a:pPr>
            <a:r>
              <a:rPr lang="en-IN" sz="2800"/>
              <a:t>• Front-End Engineering Course Material</a:t>
            </a:r>
            <a:endParaRPr/>
          </a:p>
          <a:p>
            <a:pPr indent="0" lvl="0" marL="0" rtl="0" algn="l">
              <a:spcBef>
                <a:spcPts val="560"/>
              </a:spcBef>
              <a:spcAft>
                <a:spcPts val="0"/>
              </a:spcAft>
              <a:buClr>
                <a:schemeClr val="dk1"/>
              </a:buClr>
              <a:buSzPts val="2800"/>
              <a:buNone/>
            </a:pPr>
            <a:r>
              <a:rPr lang="en-IN" sz="2800"/>
              <a:t>• Online Healthcare Management Resources</a:t>
            </a:r>
            <a:endParaRPr/>
          </a:p>
          <a:p>
            <a:pPr indent="-139700" lvl="0" marL="342900" rtl="0" algn="l">
              <a:spcBef>
                <a:spcPts val="640"/>
              </a:spcBef>
              <a:spcAft>
                <a:spcPts val="0"/>
              </a:spcAft>
              <a:buClr>
                <a:schemeClr val="dk1"/>
              </a:buClr>
              <a:buSzPts val="3200"/>
              <a:buNone/>
            </a:pPr>
            <a:r>
              <a:t/>
            </a:r>
            <a:endParaRPr/>
          </a:p>
        </p:txBody>
      </p:sp>
      <p:pic>
        <p:nvPicPr>
          <p:cNvPr id="170" name="Google Shape;170;p24"/>
          <p:cNvPicPr preferRelativeResize="0"/>
          <p:nvPr/>
        </p:nvPicPr>
        <p:blipFill rotWithShape="1">
          <a:blip r:embed="rId3">
            <a:alphaModFix/>
          </a:blip>
          <a:srcRect b="0" l="0" r="0" t="0"/>
          <a:stretch/>
        </p:blipFill>
        <p:spPr>
          <a:xfrm>
            <a:off x="228600" y="92075"/>
            <a:ext cx="1447800" cy="63976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5"/>
          <p:cNvSpPr/>
          <p:nvPr/>
        </p:nvSpPr>
        <p:spPr>
          <a:xfrm>
            <a:off x="1767855" y="2774216"/>
            <a:ext cx="5608289"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n-IN" sz="5400" u="none" cap="none" strike="noStrike">
                <a:solidFill>
                  <a:srgbClr val="262626"/>
                </a:solidFill>
                <a:latin typeface="Calibri"/>
                <a:ea typeface="Calibri"/>
                <a:cs typeface="Calibri"/>
                <a:sym typeface="Calibri"/>
              </a:rPr>
              <a:t>Thank you</a:t>
            </a:r>
            <a:endParaRPr b="1" i="0" sz="5400" u="none" cap="none" strike="noStrike">
              <a:solidFill>
                <a:srgbClr val="26262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